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21"/>
    </p:embeddedFont>
    <p:embeddedFont>
      <p:font typeface="Calibri (MS) Bold" charset="1" panose="020F0702030404030204"/>
      <p:regular r:id="rId22"/>
    </p:embeddedFont>
    <p:embeddedFont>
      <p:font typeface="Calibri (MS)" charset="1" panose="020F050202020403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slide for the 3rd edition of the PRISM Generative AI Hackathon. Replace the SAMSUNG PRISM pill with the official PRISM logo image if you have the asset. Confirm the academic year label (2026-27) before circulating.</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07492"/>
            <a:ext cx="3653790" cy="540258"/>
            <a:chOff x="0" y="0"/>
            <a:chExt cx="4871720" cy="720344"/>
          </a:xfrm>
        </p:grpSpPr>
        <p:sp>
          <p:nvSpPr>
            <p:cNvPr name="Freeform 3" id="3"/>
            <p:cNvSpPr/>
            <p:nvPr/>
          </p:nvSpPr>
          <p:spPr>
            <a:xfrm flipH="false" flipV="false" rot="0">
              <a:off x="0" y="0"/>
              <a:ext cx="4871720" cy="720344"/>
            </a:xfrm>
            <a:custGeom>
              <a:avLst/>
              <a:gdLst/>
              <a:ahLst/>
              <a:cxnLst/>
              <a:rect r="r" b="b" t="t" l="l"/>
              <a:pathLst>
                <a:path h="720344" w="4871720">
                  <a:moveTo>
                    <a:pt x="0" y="360172"/>
                  </a:moveTo>
                  <a:cubicBezTo>
                    <a:pt x="0" y="161290"/>
                    <a:pt x="161290" y="0"/>
                    <a:pt x="360172" y="0"/>
                  </a:cubicBezTo>
                  <a:lnTo>
                    <a:pt x="4511548" y="0"/>
                  </a:lnTo>
                  <a:cubicBezTo>
                    <a:pt x="4710430" y="0"/>
                    <a:pt x="4871720" y="161290"/>
                    <a:pt x="4871720" y="360172"/>
                  </a:cubicBezTo>
                  <a:cubicBezTo>
                    <a:pt x="4871720" y="559054"/>
                    <a:pt x="4710430" y="720344"/>
                    <a:pt x="4511548" y="720344"/>
                  </a:cubicBezTo>
                  <a:lnTo>
                    <a:pt x="360172" y="720344"/>
                  </a:lnTo>
                  <a:cubicBezTo>
                    <a:pt x="161290" y="720344"/>
                    <a:pt x="0" y="559054"/>
                    <a:pt x="0" y="360172"/>
                  </a:cubicBezTo>
                  <a:close/>
                </a:path>
              </a:pathLst>
            </a:custGeom>
            <a:solidFill>
              <a:srgbClr val="FFFFFF"/>
            </a:solidFill>
            <a:ln w="19050" cap="sq">
              <a:solidFill>
                <a:srgbClr val="D9D3F0"/>
              </a:solidFill>
              <a:prstDash val="solid"/>
              <a:miter/>
            </a:ln>
          </p:spPr>
        </p:sp>
      </p:grpSp>
      <p:grpSp>
        <p:nvGrpSpPr>
          <p:cNvPr name="Group 4" id="4"/>
          <p:cNvGrpSpPr/>
          <p:nvPr/>
        </p:nvGrpSpPr>
        <p:grpSpPr>
          <a:xfrm rot="0">
            <a:off x="793721" y="507492"/>
            <a:ext cx="3634740" cy="521208"/>
            <a:chOff x="0" y="0"/>
            <a:chExt cx="4846320" cy="694944"/>
          </a:xfrm>
        </p:grpSpPr>
        <p:sp>
          <p:nvSpPr>
            <p:cNvPr name="Freeform 5" id="5"/>
            <p:cNvSpPr/>
            <p:nvPr/>
          </p:nvSpPr>
          <p:spPr>
            <a:xfrm flipH="false" flipV="false" rot="0">
              <a:off x="0" y="0"/>
              <a:ext cx="4846320" cy="694944"/>
            </a:xfrm>
            <a:custGeom>
              <a:avLst/>
              <a:gdLst/>
              <a:ahLst/>
              <a:cxnLst/>
              <a:rect r="r" b="b" t="t" l="l"/>
              <a:pathLst>
                <a:path h="694944" w="4846320">
                  <a:moveTo>
                    <a:pt x="0" y="0"/>
                  </a:moveTo>
                  <a:lnTo>
                    <a:pt x="4846320" y="0"/>
                  </a:lnTo>
                  <a:lnTo>
                    <a:pt x="4846320" y="694944"/>
                  </a:lnTo>
                  <a:lnTo>
                    <a:pt x="0" y="694944"/>
                  </a:lnTo>
                  <a:close/>
                </a:path>
              </a:pathLst>
            </a:custGeom>
            <a:blipFill>
              <a:blip r:embed="rId3">
                <a:alphaModFix amt="0"/>
              </a:blip>
              <a:stretch>
                <a:fillRect l="0" t="-85882" r="0" b="-85882"/>
              </a:stretch>
            </a:blipFill>
          </p:spPr>
        </p:sp>
        <p:sp>
          <p:nvSpPr>
            <p:cNvPr name="TextBox 6" id="6"/>
            <p:cNvSpPr txBox="true"/>
            <p:nvPr/>
          </p:nvSpPr>
          <p:spPr>
            <a:xfrm>
              <a:off x="0" y="-19050"/>
              <a:ext cx="4846320" cy="713994"/>
            </a:xfrm>
            <a:prstGeom prst="rect">
              <a:avLst/>
            </a:prstGeom>
          </p:spPr>
          <p:txBody>
            <a:bodyPr anchor="ctr" rtlCol="false" tIns="0" lIns="0" bIns="0" rIns="0"/>
            <a:lstStyle/>
            <a:p>
              <a:pPr algn="ctr">
                <a:lnSpc>
                  <a:spcPts val="1980"/>
                </a:lnSpc>
              </a:pPr>
              <a:r>
                <a:rPr lang="en-US" b="true" sz="1650" spc="165">
                  <a:solidFill>
                    <a:srgbClr val="6D28D9"/>
                  </a:solidFill>
                  <a:latin typeface="Arial Bold"/>
                  <a:ea typeface="Arial Bold"/>
                  <a:cs typeface="Arial Bold"/>
                  <a:sym typeface="Arial Bold"/>
                </a:rPr>
                <a:t>SAMSUNG PRISM</a:t>
              </a:r>
            </a:p>
          </p:txBody>
        </p:sp>
      </p:grpSp>
      <p:grpSp>
        <p:nvGrpSpPr>
          <p:cNvPr name="Group 7" id="7"/>
          <p:cNvGrpSpPr/>
          <p:nvPr/>
        </p:nvGrpSpPr>
        <p:grpSpPr>
          <a:xfrm rot="0">
            <a:off x="1028700" y="1387983"/>
            <a:ext cx="9189720" cy="1124712"/>
            <a:chOff x="0" y="0"/>
            <a:chExt cx="12252960" cy="1499616"/>
          </a:xfrm>
        </p:grpSpPr>
        <p:sp>
          <p:nvSpPr>
            <p:cNvPr name="Freeform 8" id="8"/>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3">
                <a:alphaModFix amt="0"/>
              </a:blip>
              <a:stretch>
                <a:fillRect l="0" t="-109207" r="0" b="-109207"/>
              </a:stretch>
            </a:blipFill>
          </p:spPr>
        </p:sp>
        <p:sp>
          <p:nvSpPr>
            <p:cNvPr name="TextBox 9" id="9"/>
            <p:cNvSpPr txBox="true"/>
            <p:nvPr/>
          </p:nvSpPr>
          <p:spPr>
            <a:xfrm>
              <a:off x="0" y="-47625"/>
              <a:ext cx="12252960" cy="1547241"/>
            </a:xfrm>
            <a:prstGeom prst="rect">
              <a:avLst/>
            </a:prstGeom>
          </p:spPr>
          <p:txBody>
            <a:bodyPr anchor="ctr" rtlCol="false" tIns="0" lIns="0" bIns="0" rIns="0"/>
            <a:lstStyle/>
            <a:p>
              <a:pPr algn="l">
                <a:lnSpc>
                  <a:spcPts val="9000"/>
                </a:lnSpc>
              </a:pPr>
              <a:r>
                <a:rPr lang="en-US" sz="7500" b="true">
                  <a:solidFill>
                    <a:srgbClr val="14142B"/>
                  </a:solidFill>
                  <a:latin typeface="Arial Bold"/>
                  <a:ea typeface="Arial Bold"/>
                  <a:cs typeface="Arial Bold"/>
                  <a:sym typeface="Arial Bold"/>
                </a:rPr>
                <a:t>Generative AI</a:t>
              </a:r>
            </a:p>
          </p:txBody>
        </p:sp>
      </p:grpSp>
      <p:grpSp>
        <p:nvGrpSpPr>
          <p:cNvPr name="Group 10" id="10"/>
          <p:cNvGrpSpPr/>
          <p:nvPr/>
        </p:nvGrpSpPr>
        <p:grpSpPr>
          <a:xfrm rot="0">
            <a:off x="1165860" y="2512695"/>
            <a:ext cx="9189720" cy="1124712"/>
            <a:chOff x="0" y="0"/>
            <a:chExt cx="12252960" cy="1499616"/>
          </a:xfrm>
        </p:grpSpPr>
        <p:sp>
          <p:nvSpPr>
            <p:cNvPr name="Freeform 11" id="11"/>
            <p:cNvSpPr/>
            <p:nvPr/>
          </p:nvSpPr>
          <p:spPr>
            <a:xfrm flipH="false" flipV="false" rot="0">
              <a:off x="0" y="0"/>
              <a:ext cx="12252960" cy="1499616"/>
            </a:xfrm>
            <a:custGeom>
              <a:avLst/>
              <a:gdLst/>
              <a:ahLst/>
              <a:cxnLst/>
              <a:rect r="r" b="b" t="t" l="l"/>
              <a:pathLst>
                <a:path h="1499616" w="12252960">
                  <a:moveTo>
                    <a:pt x="0" y="0"/>
                  </a:moveTo>
                  <a:lnTo>
                    <a:pt x="12252960" y="0"/>
                  </a:lnTo>
                  <a:lnTo>
                    <a:pt x="12252960" y="1499616"/>
                  </a:lnTo>
                  <a:lnTo>
                    <a:pt x="0" y="1499616"/>
                  </a:lnTo>
                  <a:close/>
                </a:path>
              </a:pathLst>
            </a:custGeom>
            <a:blipFill>
              <a:blip r:embed="rId3">
                <a:alphaModFix amt="0"/>
              </a:blip>
              <a:stretch>
                <a:fillRect l="0" t="-109207" r="0" b="-109207"/>
              </a:stretch>
            </a:blipFill>
          </p:spPr>
        </p:sp>
        <p:sp>
          <p:nvSpPr>
            <p:cNvPr name="TextBox 12" id="12"/>
            <p:cNvSpPr txBox="true"/>
            <p:nvPr/>
          </p:nvSpPr>
          <p:spPr>
            <a:xfrm>
              <a:off x="0" y="-47625"/>
              <a:ext cx="12252960" cy="1547241"/>
            </a:xfrm>
            <a:prstGeom prst="rect">
              <a:avLst/>
            </a:prstGeom>
          </p:spPr>
          <p:txBody>
            <a:bodyPr anchor="ctr" rtlCol="false" tIns="0" lIns="0" bIns="0" rIns="0"/>
            <a:lstStyle/>
            <a:p>
              <a:pPr algn="l">
                <a:lnSpc>
                  <a:spcPts val="9000"/>
                </a:lnSpc>
              </a:pPr>
              <a:r>
                <a:rPr lang="en-US" sz="7500" b="true">
                  <a:solidFill>
                    <a:srgbClr val="6D28D9"/>
                  </a:solidFill>
                  <a:latin typeface="Arial Bold"/>
                  <a:ea typeface="Arial Bold"/>
                  <a:cs typeface="Arial Bold"/>
                  <a:sym typeface="Arial Bold"/>
                </a:rPr>
                <a:t>Hackathon</a:t>
              </a:r>
            </a:p>
          </p:txBody>
        </p:sp>
      </p:grpSp>
      <p:grpSp>
        <p:nvGrpSpPr>
          <p:cNvPr name="Group 13" id="13"/>
          <p:cNvGrpSpPr/>
          <p:nvPr/>
        </p:nvGrpSpPr>
        <p:grpSpPr>
          <a:xfrm rot="0">
            <a:off x="1165860" y="3637407"/>
            <a:ext cx="9189720" cy="685800"/>
            <a:chOff x="0" y="0"/>
            <a:chExt cx="12252960" cy="914400"/>
          </a:xfrm>
        </p:grpSpPr>
        <p:sp>
          <p:nvSpPr>
            <p:cNvPr name="Freeform 14" id="14"/>
            <p:cNvSpPr/>
            <p:nvPr/>
          </p:nvSpPr>
          <p:spPr>
            <a:xfrm flipH="false" flipV="false" rot="0">
              <a:off x="0" y="0"/>
              <a:ext cx="12252960" cy="914400"/>
            </a:xfrm>
            <a:custGeom>
              <a:avLst/>
              <a:gdLst/>
              <a:ahLst/>
              <a:cxnLst/>
              <a:rect r="r" b="b" t="t" l="l"/>
              <a:pathLst>
                <a:path h="914400" w="12252960">
                  <a:moveTo>
                    <a:pt x="0" y="0"/>
                  </a:moveTo>
                  <a:lnTo>
                    <a:pt x="12252960" y="0"/>
                  </a:lnTo>
                  <a:lnTo>
                    <a:pt x="12252960" y="914400"/>
                  </a:lnTo>
                  <a:lnTo>
                    <a:pt x="0" y="914400"/>
                  </a:lnTo>
                  <a:close/>
                </a:path>
              </a:pathLst>
            </a:custGeom>
            <a:blipFill>
              <a:blip r:embed="rId3">
                <a:alphaModFix amt="0"/>
              </a:blip>
              <a:stretch>
                <a:fillRect l="0" t="-211099" r="0" b="-211099"/>
              </a:stretch>
            </a:blipFill>
          </p:spPr>
        </p:sp>
        <p:sp>
          <p:nvSpPr>
            <p:cNvPr name="TextBox 15" id="15"/>
            <p:cNvSpPr txBox="true"/>
            <p:nvPr/>
          </p:nvSpPr>
          <p:spPr>
            <a:xfrm>
              <a:off x="0" y="-66675"/>
              <a:ext cx="12252960" cy="981075"/>
            </a:xfrm>
            <a:prstGeom prst="rect">
              <a:avLst/>
            </a:prstGeom>
          </p:spPr>
          <p:txBody>
            <a:bodyPr anchor="ctr" rtlCol="false" tIns="0" lIns="0" bIns="0" rIns="0"/>
            <a:lstStyle/>
            <a:p>
              <a:pPr algn="l">
                <a:lnSpc>
                  <a:spcPts val="3600"/>
                </a:lnSpc>
              </a:pPr>
              <a:r>
                <a:rPr lang="en-US" sz="3000" b="true">
                  <a:solidFill>
                    <a:srgbClr val="14142B"/>
                  </a:solidFill>
                  <a:latin typeface="Calibri (MS) Bold"/>
                  <a:ea typeface="Calibri (MS) Bold"/>
                  <a:cs typeface="Calibri (MS) Bold"/>
                  <a:sym typeface="Calibri (MS) Bold"/>
                </a:rPr>
                <a:t>3rd Edition</a:t>
              </a:r>
              <a:r>
                <a:rPr lang="en-US" sz="3000">
                  <a:solidFill>
                    <a:srgbClr val="63637E"/>
                  </a:solidFill>
                  <a:latin typeface="Calibri (MS)"/>
                  <a:ea typeface="Calibri (MS)"/>
                  <a:cs typeface="Calibri (MS)"/>
                  <a:sym typeface="Calibri (MS)"/>
                </a:rPr>
                <a:t>   2026 – 27</a:t>
              </a:r>
            </a:p>
          </p:txBody>
        </p:sp>
      </p:grpSp>
      <p:sp>
        <p:nvSpPr>
          <p:cNvPr name="TextBox 16" id="16"/>
          <p:cNvSpPr txBox="true"/>
          <p:nvPr/>
        </p:nvSpPr>
        <p:spPr>
          <a:xfrm rot="0">
            <a:off x="793721" y="4457700"/>
            <a:ext cx="9933998" cy="6191250"/>
          </a:xfrm>
          <a:prstGeom prst="rect">
            <a:avLst/>
          </a:prstGeom>
        </p:spPr>
        <p:txBody>
          <a:bodyPr anchor="t" rtlCol="false" tIns="0" lIns="0" bIns="0" rIns="0">
            <a:spAutoFit/>
          </a:bodyPr>
          <a:lstStyle/>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Theme ID - 03 · Teachable Voice Automation</a:t>
            </a:r>
          </a:p>
          <a:p>
            <a:pPr algn="l">
              <a:lnSpc>
                <a:spcPts val="2879"/>
              </a:lnSpc>
            </a:pP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Team Name -F.R.I.D.A.Y</a:t>
            </a:r>
          </a:p>
          <a:p>
            <a:pPr algn="l">
              <a:lnSpc>
                <a:spcPts val="2879"/>
              </a:lnSpc>
            </a:pP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College Name -SRM INSTITUTE OF SCIENCE AND TECHNOLOGY</a:t>
            </a:r>
          </a:p>
          <a:p>
            <a:pPr algn="l">
              <a:lnSpc>
                <a:spcPts val="2879"/>
              </a:lnSpc>
            </a:pP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1- NIRBHAY KAUSHIK</a:t>
            </a:r>
          </a:p>
          <a:p>
            <a:pPr algn="l">
              <a:lnSpc>
                <a:spcPts val="2879"/>
              </a:lnSpc>
            </a:pPr>
            <a:r>
              <a:rPr lang="en-US" sz="2400">
                <a:solidFill>
                  <a:srgbClr val="63637E"/>
                </a:solidFill>
                <a:latin typeface="Calibri (MS)"/>
                <a:ea typeface="Calibri (MS)"/>
                <a:cs typeface="Calibri (MS)"/>
                <a:sym typeface="Calibri (MS)"/>
              </a:rPr>
              <a:t>        (nirbhaykaushik09@gmail.com)</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2-  JIYA  NAMBIAR</a:t>
            </a:r>
          </a:p>
          <a:p>
            <a:pPr algn="l">
              <a:lnSpc>
                <a:spcPts val="2879"/>
              </a:lnSpc>
            </a:pPr>
            <a:r>
              <a:rPr lang="en-US" sz="2400">
                <a:solidFill>
                  <a:srgbClr val="63637E"/>
                </a:solidFill>
                <a:latin typeface="Calibri (MS)"/>
                <a:ea typeface="Calibri (MS)"/>
                <a:cs typeface="Calibri (MS)"/>
                <a:sym typeface="Calibri (MS)"/>
              </a:rPr>
              <a:t>        (jiya.nambiar2024@gmail.com)</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3- MAHIRA BABBAR</a:t>
            </a:r>
          </a:p>
          <a:p>
            <a:pPr algn="l">
              <a:lnSpc>
                <a:spcPts val="2879"/>
              </a:lnSpc>
            </a:pPr>
            <a:r>
              <a:rPr lang="en-US" sz="2400">
                <a:solidFill>
                  <a:srgbClr val="63637E"/>
                </a:solidFill>
                <a:latin typeface="Calibri (MS)"/>
                <a:ea typeface="Calibri (MS)"/>
                <a:cs typeface="Calibri (MS)"/>
                <a:sym typeface="Calibri (MS)"/>
              </a:rPr>
              <a:t>        (mb9051@srmist.edu.in)</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Member Name &amp; Email 4-VEDANSH MISHRA   </a:t>
            </a:r>
          </a:p>
          <a:p>
            <a:pPr algn="l">
              <a:lnSpc>
                <a:spcPts val="2879"/>
              </a:lnSpc>
            </a:pPr>
            <a:r>
              <a:rPr lang="en-US" sz="2400">
                <a:solidFill>
                  <a:srgbClr val="63637E"/>
                </a:solidFill>
                <a:latin typeface="Calibri (MS)"/>
                <a:ea typeface="Calibri (MS)"/>
                <a:cs typeface="Calibri (MS)"/>
                <a:sym typeface="Calibri (MS)"/>
              </a:rPr>
              <a:t>        (vedanshmishra467@gmail.com)</a:t>
            </a:r>
          </a:p>
          <a:p>
            <a:pPr algn="l" marL="434340" indent="-217170" lvl="1">
              <a:lnSpc>
                <a:spcPts val="2879"/>
              </a:lnSpc>
              <a:buFont typeface="Arial"/>
              <a:buChar char="•"/>
            </a:pPr>
            <a:r>
              <a:rPr lang="en-US" sz="2400">
                <a:solidFill>
                  <a:srgbClr val="63637E"/>
                </a:solidFill>
                <a:latin typeface="Calibri (MS)"/>
                <a:ea typeface="Calibri (MS)"/>
                <a:cs typeface="Calibri (MS)"/>
                <a:sym typeface="Calibri (MS)"/>
              </a:rPr>
              <a:t>Submission Github link - https://github.com/jiyanambiar/teachable-voice-assistant</a:t>
            </a:r>
          </a:p>
          <a:p>
            <a:pPr algn="l" marL="434340" indent="-217170" lvl="1">
              <a:lnSpc>
                <a:spcPts val="2879"/>
              </a:lnSpc>
            </a:pPr>
          </a:p>
        </p:txBody>
      </p:sp>
      <p:grpSp>
        <p:nvGrpSpPr>
          <p:cNvPr name="Group 17" id="17"/>
          <p:cNvGrpSpPr/>
          <p:nvPr/>
        </p:nvGrpSpPr>
        <p:grpSpPr>
          <a:xfrm rot="0">
            <a:off x="10588752" y="1577340"/>
            <a:ext cx="6858000" cy="6858000"/>
            <a:chOff x="0" y="0"/>
            <a:chExt cx="9144000" cy="9144000"/>
          </a:xfrm>
        </p:grpSpPr>
        <p:sp>
          <p:nvSpPr>
            <p:cNvPr name="Freeform 18" id="18" descr="hero_network.png"/>
            <p:cNvSpPr/>
            <p:nvPr/>
          </p:nvSpPr>
          <p:spPr>
            <a:xfrm flipH="false" flipV="false" rot="0">
              <a:off x="0" y="0"/>
              <a:ext cx="9144000" cy="9144000"/>
            </a:xfrm>
            <a:custGeom>
              <a:avLst/>
              <a:gdLst/>
              <a:ahLst/>
              <a:cxnLst/>
              <a:rect r="r" b="b" t="t" l="l"/>
              <a:pathLst>
                <a:path h="9144000" w="9144000">
                  <a:moveTo>
                    <a:pt x="0" y="0"/>
                  </a:moveTo>
                  <a:lnTo>
                    <a:pt x="9144000" y="0"/>
                  </a:lnTo>
                  <a:lnTo>
                    <a:pt x="9144000" y="9144000"/>
                  </a:lnTo>
                  <a:lnTo>
                    <a:pt x="0" y="9144000"/>
                  </a:lnTo>
                  <a:lnTo>
                    <a:pt x="0" y="0"/>
                  </a:lnTo>
                  <a:close/>
                </a:path>
              </a:pathLst>
            </a:custGeom>
            <a:blipFill>
              <a:blip r:embed="rId4"/>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Theme</a:t>
              </a:r>
            </a:p>
          </p:txBody>
        </p:sp>
      </p:grpSp>
      <p:grpSp>
        <p:nvGrpSpPr>
          <p:cNvPr name="Group 5" id="5"/>
          <p:cNvGrpSpPr/>
          <p:nvPr/>
        </p:nvGrpSpPr>
        <p:grpSpPr>
          <a:xfrm rot="0">
            <a:off x="1257300" y="2475005"/>
            <a:ext cx="2099996" cy="449999"/>
            <a:chOff x="0" y="0"/>
            <a:chExt cx="2799994" cy="599999"/>
          </a:xfrm>
        </p:grpSpPr>
        <p:sp>
          <p:nvSpPr>
            <p:cNvPr name="Freeform 6" id="6"/>
            <p:cNvSpPr/>
            <p:nvPr/>
          </p:nvSpPr>
          <p:spPr>
            <a:xfrm flipH="false" flipV="false" rot="0">
              <a:off x="0" y="0"/>
              <a:ext cx="2799969" cy="599948"/>
            </a:xfrm>
            <a:custGeom>
              <a:avLst/>
              <a:gdLst/>
              <a:ahLst/>
              <a:cxnLst/>
              <a:rect r="r" b="b" t="t" l="l"/>
              <a:pathLst>
                <a:path h="599948" w="2799969">
                  <a:moveTo>
                    <a:pt x="0" y="299974"/>
                  </a:moveTo>
                  <a:cubicBezTo>
                    <a:pt x="0" y="134366"/>
                    <a:pt x="134366" y="0"/>
                    <a:pt x="299974" y="0"/>
                  </a:cubicBezTo>
                  <a:lnTo>
                    <a:pt x="2499995" y="0"/>
                  </a:lnTo>
                  <a:cubicBezTo>
                    <a:pt x="2665730" y="0"/>
                    <a:pt x="2799969" y="134366"/>
                    <a:pt x="2799969" y="299974"/>
                  </a:cubicBezTo>
                  <a:cubicBezTo>
                    <a:pt x="2799969" y="465582"/>
                    <a:pt x="2665730" y="599948"/>
                    <a:pt x="2499995" y="599948"/>
                  </a:cubicBezTo>
                  <a:lnTo>
                    <a:pt x="299974" y="599948"/>
                  </a:lnTo>
                  <a:cubicBezTo>
                    <a:pt x="134366" y="599948"/>
                    <a:pt x="0" y="465709"/>
                    <a:pt x="0" y="299974"/>
                  </a:cubicBezTo>
                  <a:close/>
                </a:path>
              </a:pathLst>
            </a:custGeom>
            <a:solidFill>
              <a:srgbClr val="F5F3FF"/>
            </a:solidFill>
          </p:spPr>
        </p:sp>
        <p:sp>
          <p:nvSpPr>
            <p:cNvPr name="TextBox 7" id="7"/>
            <p:cNvSpPr txBox="true"/>
            <p:nvPr/>
          </p:nvSpPr>
          <p:spPr>
            <a:xfrm>
              <a:off x="0" y="-28575"/>
              <a:ext cx="2799994" cy="628574"/>
            </a:xfrm>
            <a:prstGeom prst="rect">
              <a:avLst/>
            </a:prstGeom>
          </p:spPr>
          <p:txBody>
            <a:bodyPr anchor="ctr" rtlCol="false" tIns="50800" lIns="50800" bIns="50800" rIns="50800"/>
            <a:lstStyle/>
            <a:p>
              <a:pPr algn="ctr">
                <a:lnSpc>
                  <a:spcPts val="1980"/>
                </a:lnSpc>
              </a:pPr>
              <a:r>
                <a:rPr lang="en-US" sz="1650" b="true">
                  <a:solidFill>
                    <a:srgbClr val="6D28D9"/>
                  </a:solidFill>
                  <a:latin typeface="Calibri (MS) Bold"/>
                  <a:ea typeface="Calibri (MS) Bold"/>
                  <a:cs typeface="Calibri (MS) Bold"/>
                  <a:sym typeface="Calibri (MS) Bold"/>
                </a:rPr>
                <a:t>THEME 03</a:t>
              </a:r>
            </a:p>
          </p:txBody>
        </p:sp>
      </p:grpSp>
      <p:grpSp>
        <p:nvGrpSpPr>
          <p:cNvPr name="Group 8" id="8"/>
          <p:cNvGrpSpPr/>
          <p:nvPr/>
        </p:nvGrpSpPr>
        <p:grpSpPr>
          <a:xfrm rot="0">
            <a:off x="1257300" y="2970000"/>
            <a:ext cx="9450000" cy="630003"/>
            <a:chOff x="0" y="0"/>
            <a:chExt cx="12600000" cy="840003"/>
          </a:xfrm>
        </p:grpSpPr>
        <p:sp>
          <p:nvSpPr>
            <p:cNvPr name="Freeform 9" id="9"/>
            <p:cNvSpPr/>
            <p:nvPr/>
          </p:nvSpPr>
          <p:spPr>
            <a:xfrm flipH="false" flipV="false" rot="0">
              <a:off x="0" y="0"/>
              <a:ext cx="12600000" cy="840000"/>
            </a:xfrm>
            <a:custGeom>
              <a:avLst/>
              <a:gdLst/>
              <a:ahLst/>
              <a:cxnLst/>
              <a:rect r="r" b="b" t="t" l="l"/>
              <a:pathLst>
                <a:path h="840000" w="12600000">
                  <a:moveTo>
                    <a:pt x="0" y="0"/>
                  </a:moveTo>
                  <a:lnTo>
                    <a:pt x="12600000" y="0"/>
                  </a:lnTo>
                  <a:lnTo>
                    <a:pt x="12600000" y="840000"/>
                  </a:lnTo>
                  <a:lnTo>
                    <a:pt x="0" y="840000"/>
                  </a:lnTo>
                  <a:close/>
                </a:path>
              </a:pathLst>
            </a:custGeom>
            <a:blipFill>
              <a:blip r:embed="rId2">
                <a:alphaModFix amt="0"/>
              </a:blip>
              <a:stretch>
                <a:fillRect l="0" t="-242275" r="0" b="-242275"/>
              </a:stretch>
            </a:blipFill>
          </p:spPr>
        </p:sp>
        <p:sp>
          <p:nvSpPr>
            <p:cNvPr name="TextBox 10" id="10"/>
            <p:cNvSpPr txBox="true"/>
            <p:nvPr/>
          </p:nvSpPr>
          <p:spPr>
            <a:xfrm>
              <a:off x="0" y="-28575"/>
              <a:ext cx="12600000" cy="868578"/>
            </a:xfrm>
            <a:prstGeom prst="rect">
              <a:avLst/>
            </a:prstGeom>
          </p:spPr>
          <p:txBody>
            <a:bodyPr anchor="ctr" rtlCol="false" tIns="0" lIns="0" bIns="0" rIns="0"/>
            <a:lstStyle/>
            <a:p>
              <a:pPr algn="l">
                <a:lnSpc>
                  <a:spcPts val="4320"/>
                </a:lnSpc>
              </a:pPr>
              <a:r>
                <a:rPr lang="en-US" sz="3600" b="true">
                  <a:solidFill>
                    <a:srgbClr val="14142B"/>
                  </a:solidFill>
                  <a:latin typeface="Arial Bold"/>
                  <a:ea typeface="Arial Bold"/>
                  <a:cs typeface="Arial Bold"/>
                  <a:sym typeface="Arial Bold"/>
                </a:rPr>
                <a:t>Teachable Voice Automation</a:t>
              </a:r>
            </a:p>
          </p:txBody>
        </p:sp>
      </p:grpSp>
      <p:grpSp>
        <p:nvGrpSpPr>
          <p:cNvPr name="Group 11" id="11"/>
          <p:cNvGrpSpPr/>
          <p:nvPr/>
        </p:nvGrpSpPr>
        <p:grpSpPr>
          <a:xfrm rot="0">
            <a:off x="1247775" y="3740477"/>
            <a:ext cx="9469050" cy="2269046"/>
            <a:chOff x="0" y="0"/>
            <a:chExt cx="12625400" cy="3025394"/>
          </a:xfrm>
        </p:grpSpPr>
        <p:sp>
          <p:nvSpPr>
            <p:cNvPr name="Freeform 12" id="12"/>
            <p:cNvSpPr/>
            <p:nvPr/>
          </p:nvSpPr>
          <p:spPr>
            <a:xfrm flipH="false" flipV="false" rot="0">
              <a:off x="0" y="0"/>
              <a:ext cx="12625324" cy="3025394"/>
            </a:xfrm>
            <a:custGeom>
              <a:avLst/>
              <a:gdLst/>
              <a:ahLst/>
              <a:cxnLst/>
              <a:rect r="r" b="b" t="t" l="l"/>
              <a:pathLst>
                <a:path h="3025394" w="12625324">
                  <a:moveTo>
                    <a:pt x="0" y="181483"/>
                  </a:moveTo>
                  <a:cubicBezTo>
                    <a:pt x="0" y="81280"/>
                    <a:pt x="81280" y="0"/>
                    <a:pt x="181483" y="0"/>
                  </a:cubicBezTo>
                  <a:lnTo>
                    <a:pt x="12443841" y="0"/>
                  </a:lnTo>
                  <a:cubicBezTo>
                    <a:pt x="12544044" y="0"/>
                    <a:pt x="12625324" y="81280"/>
                    <a:pt x="12625324" y="181483"/>
                  </a:cubicBezTo>
                  <a:lnTo>
                    <a:pt x="12625324" y="2843911"/>
                  </a:lnTo>
                  <a:cubicBezTo>
                    <a:pt x="12625324" y="2944114"/>
                    <a:pt x="12544044" y="3025394"/>
                    <a:pt x="12443841" y="3025394"/>
                  </a:cubicBezTo>
                  <a:lnTo>
                    <a:pt x="181483" y="3025394"/>
                  </a:lnTo>
                  <a:cubicBezTo>
                    <a:pt x="81280" y="3025394"/>
                    <a:pt x="0" y="2944114"/>
                    <a:pt x="0" y="2843911"/>
                  </a:cubicBezTo>
                  <a:close/>
                </a:path>
              </a:pathLst>
            </a:custGeom>
            <a:solidFill>
              <a:srgbClr val="FFFFFF"/>
            </a:solidFill>
            <a:ln w="19050" cap="sq">
              <a:solidFill>
                <a:srgbClr val="E1DBF3"/>
              </a:solidFill>
              <a:prstDash val="solid"/>
              <a:miter/>
            </a:ln>
          </p:spPr>
        </p:sp>
        <p:sp>
          <p:nvSpPr>
            <p:cNvPr name="TextBox 13" id="13"/>
            <p:cNvSpPr txBox="true"/>
            <p:nvPr/>
          </p:nvSpPr>
          <p:spPr>
            <a:xfrm>
              <a:off x="0" y="-19050"/>
              <a:ext cx="12625400" cy="304444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Problem statement</a:t>
              </a:r>
            </a:p>
            <a:p>
              <a:pPr algn="l">
                <a:lnSpc>
                  <a:spcPts val="2340"/>
                </a:lnSpc>
              </a:pPr>
              <a:r>
                <a:rPr lang="en-US" sz="1950">
                  <a:solidFill>
                    <a:srgbClr val="63637E"/>
                  </a:solidFill>
                  <a:latin typeface="Calibri (MS)"/>
                  <a:ea typeface="Calibri (MS)"/>
                  <a:cs typeface="Calibri (MS)"/>
                  <a:sym typeface="Calibri (MS)"/>
                </a:rPr>
                <a:t>Voice assistants cannot act inside third-party apps like Amazon or Zomato, so anything past first-party features falls back to a web result. Users already know which taps get the job done — they just have no way to hand that knowledge to the assistant.</a:t>
              </a:r>
            </a:p>
          </p:txBody>
        </p:sp>
      </p:grpSp>
      <p:grpSp>
        <p:nvGrpSpPr>
          <p:cNvPr name="Group 14" id="14"/>
          <p:cNvGrpSpPr/>
          <p:nvPr/>
        </p:nvGrpSpPr>
        <p:grpSpPr>
          <a:xfrm rot="0">
            <a:off x="1247775" y="6140472"/>
            <a:ext cx="9469050" cy="2569054"/>
            <a:chOff x="0" y="0"/>
            <a:chExt cx="12625400" cy="3425406"/>
          </a:xfrm>
        </p:grpSpPr>
        <p:sp>
          <p:nvSpPr>
            <p:cNvPr name="Freeform 15" id="15"/>
            <p:cNvSpPr/>
            <p:nvPr/>
          </p:nvSpPr>
          <p:spPr>
            <a:xfrm flipH="false" flipV="false" rot="0">
              <a:off x="0" y="0"/>
              <a:ext cx="12625324" cy="3425317"/>
            </a:xfrm>
            <a:custGeom>
              <a:avLst/>
              <a:gdLst/>
              <a:ahLst/>
              <a:cxnLst/>
              <a:rect r="r" b="b" t="t" l="l"/>
              <a:pathLst>
                <a:path h="3425317" w="12625324">
                  <a:moveTo>
                    <a:pt x="0" y="205486"/>
                  </a:moveTo>
                  <a:cubicBezTo>
                    <a:pt x="0" y="92075"/>
                    <a:pt x="92075" y="0"/>
                    <a:pt x="205486" y="0"/>
                  </a:cubicBezTo>
                  <a:lnTo>
                    <a:pt x="12419838" y="0"/>
                  </a:lnTo>
                  <a:cubicBezTo>
                    <a:pt x="12533376" y="0"/>
                    <a:pt x="12625324" y="92075"/>
                    <a:pt x="12625324" y="205486"/>
                  </a:cubicBezTo>
                  <a:lnTo>
                    <a:pt x="12625324" y="3219831"/>
                  </a:lnTo>
                  <a:cubicBezTo>
                    <a:pt x="12625324" y="3333369"/>
                    <a:pt x="12533249" y="3425317"/>
                    <a:pt x="12419838" y="3425317"/>
                  </a:cubicBezTo>
                  <a:lnTo>
                    <a:pt x="205486" y="3425317"/>
                  </a:lnTo>
                  <a:cubicBezTo>
                    <a:pt x="92075" y="3425444"/>
                    <a:pt x="0" y="3333369"/>
                    <a:pt x="0" y="3219831"/>
                  </a:cubicBezTo>
                  <a:close/>
                </a:path>
              </a:pathLst>
            </a:custGeom>
            <a:solidFill>
              <a:srgbClr val="F5F3FF"/>
            </a:solidFill>
            <a:ln w="19050" cap="sq">
              <a:solidFill>
                <a:srgbClr val="E1DBF3"/>
              </a:solidFill>
              <a:prstDash val="solid"/>
              <a:miter/>
            </a:ln>
          </p:spPr>
        </p:sp>
        <p:sp>
          <p:nvSpPr>
            <p:cNvPr name="TextBox 16" id="16"/>
            <p:cNvSpPr txBox="true"/>
            <p:nvPr/>
          </p:nvSpPr>
          <p:spPr>
            <a:xfrm>
              <a:off x="0" y="-19050"/>
              <a:ext cx="12625400" cy="3444456"/>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What to build</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Let a user speak a command, then record the on-screen steps as they do it once</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Generalise that recording into a reusable flow, not a brittle tap replay</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Match later utterances, including paraphrases and changed values, to the learnt flow</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Replay reliably when screens change, and ask the user only when genuinely stuck</a:t>
              </a:r>
            </a:p>
          </p:txBody>
        </p:sp>
      </p:grpSp>
      <p:grpSp>
        <p:nvGrpSpPr>
          <p:cNvPr name="Group 17" id="17"/>
          <p:cNvGrpSpPr/>
          <p:nvPr/>
        </p:nvGrpSpPr>
        <p:grpSpPr>
          <a:xfrm rot="0">
            <a:off x="11072774" y="2465480"/>
            <a:ext cx="5967451" cy="3394053"/>
            <a:chOff x="0" y="0"/>
            <a:chExt cx="7956601" cy="4525404"/>
          </a:xfrm>
        </p:grpSpPr>
        <p:sp>
          <p:nvSpPr>
            <p:cNvPr name="Freeform 18" id="18"/>
            <p:cNvSpPr/>
            <p:nvPr/>
          </p:nvSpPr>
          <p:spPr>
            <a:xfrm flipH="false" flipV="false" rot="0">
              <a:off x="0" y="0"/>
              <a:ext cx="7956550" cy="4525391"/>
            </a:xfrm>
            <a:custGeom>
              <a:avLst/>
              <a:gdLst/>
              <a:ahLst/>
              <a:cxnLst/>
              <a:rect r="r" b="b" t="t" l="l"/>
              <a:pathLst>
                <a:path h="4525391" w="7956550">
                  <a:moveTo>
                    <a:pt x="0" y="271526"/>
                  </a:moveTo>
                  <a:cubicBezTo>
                    <a:pt x="0" y="121539"/>
                    <a:pt x="121539" y="0"/>
                    <a:pt x="271526" y="0"/>
                  </a:cubicBezTo>
                  <a:lnTo>
                    <a:pt x="7685024" y="0"/>
                  </a:lnTo>
                  <a:cubicBezTo>
                    <a:pt x="7835011" y="0"/>
                    <a:pt x="7956550" y="121539"/>
                    <a:pt x="7956550" y="271526"/>
                  </a:cubicBezTo>
                  <a:lnTo>
                    <a:pt x="7956550" y="4253865"/>
                  </a:lnTo>
                  <a:cubicBezTo>
                    <a:pt x="7956550" y="4403852"/>
                    <a:pt x="7835011" y="4525391"/>
                    <a:pt x="7685024" y="4525391"/>
                  </a:cubicBezTo>
                  <a:lnTo>
                    <a:pt x="271526" y="4525391"/>
                  </a:lnTo>
                  <a:cubicBezTo>
                    <a:pt x="121539" y="4525391"/>
                    <a:pt x="0" y="4403852"/>
                    <a:pt x="0" y="4253865"/>
                  </a:cubicBezTo>
                  <a:close/>
                </a:path>
              </a:pathLst>
            </a:custGeom>
            <a:solidFill>
              <a:srgbClr val="FFFFFF"/>
            </a:solidFill>
            <a:ln w="19050" cap="sq">
              <a:solidFill>
                <a:srgbClr val="E1DBF3"/>
              </a:solidFill>
              <a:prstDash val="solid"/>
              <a:miter/>
            </a:ln>
          </p:spPr>
        </p:sp>
        <p:sp>
          <p:nvSpPr>
            <p:cNvPr name="TextBox 19" id="19"/>
            <p:cNvSpPr txBox="true"/>
            <p:nvPr/>
          </p:nvSpPr>
          <p:spPr>
            <a:xfrm>
              <a:off x="0" y="-19050"/>
              <a:ext cx="7956601" cy="454445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Scope &amp; constraints</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Android; UI automation or accessibility services, not app-specific APIs</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Two or three third-party apps is enough to prove the idea</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At least one parameterised slot — item, quantity or address</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No credential capture; pause for payment and authentication</a:t>
              </a:r>
            </a:p>
          </p:txBody>
        </p:sp>
      </p:grpSp>
      <p:grpSp>
        <p:nvGrpSpPr>
          <p:cNvPr name="Group 20" id="20"/>
          <p:cNvGrpSpPr/>
          <p:nvPr/>
        </p:nvGrpSpPr>
        <p:grpSpPr>
          <a:xfrm rot="0">
            <a:off x="11072774" y="6065472"/>
            <a:ext cx="5967451" cy="2644054"/>
            <a:chOff x="0" y="0"/>
            <a:chExt cx="7956601" cy="3525406"/>
          </a:xfrm>
        </p:grpSpPr>
        <p:sp>
          <p:nvSpPr>
            <p:cNvPr name="Freeform 21" id="21"/>
            <p:cNvSpPr/>
            <p:nvPr/>
          </p:nvSpPr>
          <p:spPr>
            <a:xfrm flipH="false" flipV="false" rot="0">
              <a:off x="0" y="0"/>
              <a:ext cx="7956676" cy="3525520"/>
            </a:xfrm>
            <a:custGeom>
              <a:avLst/>
              <a:gdLst/>
              <a:ahLst/>
              <a:cxnLst/>
              <a:rect r="r" b="b" t="t" l="l"/>
              <a:pathLst>
                <a:path h="3525520" w="7956676">
                  <a:moveTo>
                    <a:pt x="0" y="211582"/>
                  </a:moveTo>
                  <a:cubicBezTo>
                    <a:pt x="0" y="94742"/>
                    <a:pt x="94742" y="0"/>
                    <a:pt x="211582" y="0"/>
                  </a:cubicBezTo>
                  <a:lnTo>
                    <a:pt x="7745095" y="0"/>
                  </a:lnTo>
                  <a:cubicBezTo>
                    <a:pt x="7861935" y="0"/>
                    <a:pt x="7956676" y="94742"/>
                    <a:pt x="7956676" y="211582"/>
                  </a:cubicBezTo>
                  <a:lnTo>
                    <a:pt x="7956676" y="3313938"/>
                  </a:lnTo>
                  <a:cubicBezTo>
                    <a:pt x="7956676" y="3430778"/>
                    <a:pt x="7861935" y="3525520"/>
                    <a:pt x="7745095" y="3525520"/>
                  </a:cubicBezTo>
                  <a:lnTo>
                    <a:pt x="211582" y="3525520"/>
                  </a:lnTo>
                  <a:cubicBezTo>
                    <a:pt x="94742" y="3525393"/>
                    <a:pt x="0" y="3430651"/>
                    <a:pt x="0" y="3313938"/>
                  </a:cubicBezTo>
                  <a:close/>
                </a:path>
              </a:pathLst>
            </a:custGeom>
            <a:solidFill>
              <a:srgbClr val="FFFFFF"/>
            </a:solidFill>
            <a:ln w="19050" cap="sq">
              <a:solidFill>
                <a:srgbClr val="E1DBF3"/>
              </a:solidFill>
              <a:prstDash val="solid"/>
              <a:miter/>
            </a:ln>
          </p:spPr>
        </p:sp>
        <p:sp>
          <p:nvSpPr>
            <p:cNvPr name="TextBox 22" id="22"/>
            <p:cNvSpPr txBox="true"/>
            <p:nvPr/>
          </p:nvSpPr>
          <p:spPr>
            <a:xfrm>
              <a:off x="0" y="-19050"/>
              <a:ext cx="7956601" cy="3544456"/>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Tech focus</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Speech-to-intent, UI-tree understanding, flow synthesis from one demonstration</a:t>
              </a:r>
            </a:p>
            <a:p>
              <a:pPr algn="l" marL="325755" indent="-162878" lvl="1">
                <a:lnSpc>
                  <a:spcPts val="2160"/>
                </a:lnSpc>
                <a:buFont typeface="Arial"/>
                <a:buChar char="•"/>
              </a:pPr>
              <a:r>
                <a:rPr lang="en-US" sz="1800">
                  <a:solidFill>
                    <a:srgbClr val="63637E"/>
                  </a:solidFill>
                  <a:latin typeface="Calibri (MS)"/>
                  <a:ea typeface="Calibri (MS)"/>
                  <a:cs typeface="Calibri (MS)"/>
                  <a:sym typeface="Calibri (MS)"/>
                </a:rPr>
                <a:t>Report learn success, replay success across sessions and paraphrase match accuracy</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Existing Solutions &amp; Gaps</a:t>
              </a:r>
            </a:p>
          </p:txBody>
        </p:sp>
      </p:grpSp>
      <p:grpSp>
        <p:nvGrpSpPr>
          <p:cNvPr name="Group 5" id="5"/>
          <p:cNvGrpSpPr/>
          <p:nvPr/>
        </p:nvGrpSpPr>
        <p:grpSpPr>
          <a:xfrm rot="0">
            <a:off x="1247775" y="2465480"/>
            <a:ext cx="3759898" cy="3994052"/>
            <a:chOff x="0" y="0"/>
            <a:chExt cx="5013198" cy="5325402"/>
          </a:xfrm>
        </p:grpSpPr>
        <p:sp>
          <p:nvSpPr>
            <p:cNvPr name="Freeform 6" id="6"/>
            <p:cNvSpPr/>
            <p:nvPr/>
          </p:nvSpPr>
          <p:spPr>
            <a:xfrm flipH="false" flipV="false" rot="0">
              <a:off x="0" y="0"/>
              <a:ext cx="5013198" cy="5325364"/>
            </a:xfrm>
            <a:custGeom>
              <a:avLst/>
              <a:gdLst/>
              <a:ahLst/>
              <a:cxnLst/>
              <a:rect r="r" b="b" t="t" l="l"/>
              <a:pathLst>
                <a:path h="5325364" w="5013198">
                  <a:moveTo>
                    <a:pt x="0" y="300736"/>
                  </a:moveTo>
                  <a:cubicBezTo>
                    <a:pt x="0" y="134620"/>
                    <a:pt x="134620" y="0"/>
                    <a:pt x="300736" y="0"/>
                  </a:cubicBezTo>
                  <a:lnTo>
                    <a:pt x="4712462" y="0"/>
                  </a:lnTo>
                  <a:cubicBezTo>
                    <a:pt x="4878578" y="0"/>
                    <a:pt x="5013198" y="134620"/>
                    <a:pt x="5013198" y="300736"/>
                  </a:cubicBezTo>
                  <a:lnTo>
                    <a:pt x="5013198" y="5024628"/>
                  </a:lnTo>
                  <a:cubicBezTo>
                    <a:pt x="5013198" y="5190744"/>
                    <a:pt x="4878578" y="5325364"/>
                    <a:pt x="4712462" y="5325364"/>
                  </a:cubicBezTo>
                  <a:lnTo>
                    <a:pt x="300736" y="5325364"/>
                  </a:lnTo>
                  <a:cubicBezTo>
                    <a:pt x="134620" y="5325364"/>
                    <a:pt x="0" y="5190744"/>
                    <a:pt x="0" y="5024628"/>
                  </a:cubicBezTo>
                  <a:close/>
                </a:path>
              </a:pathLst>
            </a:custGeom>
            <a:solidFill>
              <a:srgbClr val="FFFFFF"/>
            </a:solidFill>
            <a:ln w="19050" cap="sq">
              <a:solidFill>
                <a:srgbClr val="E1DBF3"/>
              </a:solidFill>
              <a:prstDash val="solid"/>
              <a:miter/>
            </a:ln>
          </p:spPr>
        </p:sp>
        <p:sp>
          <p:nvSpPr>
            <p:cNvPr name="TextBox 7" id="7"/>
            <p:cNvSpPr txBox="true"/>
            <p:nvPr/>
          </p:nvSpPr>
          <p:spPr>
            <a:xfrm>
              <a:off x="0" y="-19050"/>
              <a:ext cx="5013198" cy="5344452"/>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Voice assistants</a:t>
              </a:r>
            </a:p>
            <a:p>
              <a:pPr algn="l">
                <a:lnSpc>
                  <a:spcPts val="2070"/>
                </a:lnSpc>
              </a:pPr>
              <a:r>
                <a:rPr lang="en-US" sz="1725" b="true">
                  <a:solidFill>
                    <a:srgbClr val="6D28D9"/>
                  </a:solidFill>
                  <a:latin typeface="Calibri (MS) Bold"/>
                  <a:ea typeface="Calibri (MS) Bold"/>
                  <a:cs typeface="Calibri (MS) Bold"/>
                  <a:sym typeface="Calibri (MS) Bold"/>
                </a:rPr>
                <a:t>Google Assistant, Siri, Bixby</a:t>
              </a:r>
            </a:p>
            <a:p>
              <a:pPr algn="l">
                <a:lnSpc>
                  <a:spcPts val="1980"/>
                </a:lnSpc>
              </a:pPr>
              <a:r>
                <a:rPr lang="en-US" sz="1650" b="true">
                  <a:solidFill>
                    <a:srgbClr val="14142B"/>
                  </a:solidFill>
                  <a:latin typeface="Arial Bold"/>
                  <a:ea typeface="Arial Bold"/>
                  <a:cs typeface="Arial Bold"/>
                  <a:sym typeface="Arial Bold"/>
                </a:rPr>
                <a:t>Gap</a:t>
              </a:r>
            </a:p>
            <a:p>
              <a:pPr algn="l">
                <a:lnSpc>
                  <a:spcPts val="2250"/>
                </a:lnSpc>
              </a:pPr>
              <a:r>
                <a:rPr lang="en-US" sz="1875">
                  <a:solidFill>
                    <a:srgbClr val="63637E"/>
                  </a:solidFill>
                  <a:latin typeface="Calibri (MS)"/>
                  <a:ea typeface="Calibri (MS)"/>
                  <a:cs typeface="Calibri (MS)"/>
                  <a:sym typeface="Calibri (MS)"/>
                </a:rPr>
                <a:t>Only first-party features and apps that publish app-specific integrations; everything else becomes a web search.</a:t>
              </a:r>
            </a:p>
          </p:txBody>
        </p:sp>
      </p:grpSp>
      <p:grpSp>
        <p:nvGrpSpPr>
          <p:cNvPr name="Group 8" id="8"/>
          <p:cNvGrpSpPr/>
          <p:nvPr/>
        </p:nvGrpSpPr>
        <p:grpSpPr>
          <a:xfrm rot="0">
            <a:off x="5258629" y="2465480"/>
            <a:ext cx="3759898" cy="3994052"/>
            <a:chOff x="0" y="0"/>
            <a:chExt cx="5013198" cy="5325402"/>
          </a:xfrm>
        </p:grpSpPr>
        <p:sp>
          <p:nvSpPr>
            <p:cNvPr name="Freeform 9" id="9"/>
            <p:cNvSpPr/>
            <p:nvPr/>
          </p:nvSpPr>
          <p:spPr>
            <a:xfrm flipH="false" flipV="false" rot="0">
              <a:off x="0" y="0"/>
              <a:ext cx="5013198" cy="5325364"/>
            </a:xfrm>
            <a:custGeom>
              <a:avLst/>
              <a:gdLst/>
              <a:ahLst/>
              <a:cxnLst/>
              <a:rect r="r" b="b" t="t" l="l"/>
              <a:pathLst>
                <a:path h="5325364" w="5013198">
                  <a:moveTo>
                    <a:pt x="0" y="300736"/>
                  </a:moveTo>
                  <a:cubicBezTo>
                    <a:pt x="0" y="134620"/>
                    <a:pt x="134620" y="0"/>
                    <a:pt x="300736" y="0"/>
                  </a:cubicBezTo>
                  <a:lnTo>
                    <a:pt x="4712462" y="0"/>
                  </a:lnTo>
                  <a:cubicBezTo>
                    <a:pt x="4878578" y="0"/>
                    <a:pt x="5013198" y="134620"/>
                    <a:pt x="5013198" y="300736"/>
                  </a:cubicBezTo>
                  <a:lnTo>
                    <a:pt x="5013198" y="5024628"/>
                  </a:lnTo>
                  <a:cubicBezTo>
                    <a:pt x="5013198" y="5190744"/>
                    <a:pt x="4878578" y="5325364"/>
                    <a:pt x="4712462" y="5325364"/>
                  </a:cubicBezTo>
                  <a:lnTo>
                    <a:pt x="300736" y="5325364"/>
                  </a:lnTo>
                  <a:cubicBezTo>
                    <a:pt x="134620" y="5325364"/>
                    <a:pt x="0" y="5190744"/>
                    <a:pt x="0" y="5024628"/>
                  </a:cubicBezTo>
                  <a:close/>
                </a:path>
              </a:pathLst>
            </a:custGeom>
            <a:solidFill>
              <a:srgbClr val="FFFFFF"/>
            </a:solidFill>
            <a:ln w="19050" cap="sq">
              <a:solidFill>
                <a:srgbClr val="E1DBF3"/>
              </a:solidFill>
              <a:prstDash val="solid"/>
              <a:miter/>
            </a:ln>
          </p:spPr>
        </p:sp>
        <p:sp>
          <p:nvSpPr>
            <p:cNvPr name="TextBox 10" id="10"/>
            <p:cNvSpPr txBox="true"/>
            <p:nvPr/>
          </p:nvSpPr>
          <p:spPr>
            <a:xfrm>
              <a:off x="0" y="-19050"/>
              <a:ext cx="5013198" cy="5344452"/>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Macro / routine apps</a:t>
              </a:r>
            </a:p>
            <a:p>
              <a:pPr algn="l">
                <a:lnSpc>
                  <a:spcPts val="2070"/>
                </a:lnSpc>
              </a:pPr>
              <a:r>
                <a:rPr lang="en-US" sz="1725" b="true">
                  <a:solidFill>
                    <a:srgbClr val="6D28D9"/>
                  </a:solidFill>
                  <a:latin typeface="Calibri (MS) Bold"/>
                  <a:ea typeface="Calibri (MS) Bold"/>
                  <a:cs typeface="Calibri (MS) Bold"/>
                  <a:sym typeface="Calibri (MS) Bold"/>
                </a:rPr>
                <a:t>Tasker, MacroDroid, Bixby Routines</a:t>
              </a:r>
            </a:p>
            <a:p>
              <a:pPr algn="l">
                <a:lnSpc>
                  <a:spcPts val="1980"/>
                </a:lnSpc>
              </a:pPr>
              <a:r>
                <a:rPr lang="en-US" sz="1650" b="true">
                  <a:solidFill>
                    <a:srgbClr val="14142B"/>
                  </a:solidFill>
                  <a:latin typeface="Arial Bold"/>
                  <a:ea typeface="Arial Bold"/>
                  <a:cs typeface="Arial Bold"/>
                  <a:sym typeface="Arial Bold"/>
                </a:rPr>
                <a:t>Gap</a:t>
              </a:r>
            </a:p>
            <a:p>
              <a:pPr algn="l">
                <a:lnSpc>
                  <a:spcPts val="2250"/>
                </a:lnSpc>
              </a:pPr>
              <a:r>
                <a:rPr lang="en-US" sz="1875">
                  <a:solidFill>
                    <a:srgbClr val="63637E"/>
                  </a:solidFill>
                  <a:latin typeface="Calibri (MS)"/>
                  <a:ea typeface="Calibri (MS)"/>
                  <a:cs typeface="Calibri (MS)"/>
                  <a:sym typeface="Calibri (MS)"/>
                </a:rPr>
                <a:t>Record taps or hand-built rules. Replay is brittle — breaks when a screen, button or layout changes.</a:t>
              </a:r>
            </a:p>
          </p:txBody>
        </p:sp>
      </p:grpSp>
      <p:grpSp>
        <p:nvGrpSpPr>
          <p:cNvPr name="Group 11" id="11"/>
          <p:cNvGrpSpPr/>
          <p:nvPr/>
        </p:nvGrpSpPr>
        <p:grpSpPr>
          <a:xfrm rot="0">
            <a:off x="9269473" y="2465480"/>
            <a:ext cx="3759898" cy="3994052"/>
            <a:chOff x="0" y="0"/>
            <a:chExt cx="5013198" cy="5325402"/>
          </a:xfrm>
        </p:grpSpPr>
        <p:sp>
          <p:nvSpPr>
            <p:cNvPr name="Freeform 12" id="12"/>
            <p:cNvSpPr/>
            <p:nvPr/>
          </p:nvSpPr>
          <p:spPr>
            <a:xfrm flipH="false" flipV="false" rot="0">
              <a:off x="0" y="0"/>
              <a:ext cx="5013198" cy="5325364"/>
            </a:xfrm>
            <a:custGeom>
              <a:avLst/>
              <a:gdLst/>
              <a:ahLst/>
              <a:cxnLst/>
              <a:rect r="r" b="b" t="t" l="l"/>
              <a:pathLst>
                <a:path h="5325364" w="5013198">
                  <a:moveTo>
                    <a:pt x="0" y="300736"/>
                  </a:moveTo>
                  <a:cubicBezTo>
                    <a:pt x="0" y="134620"/>
                    <a:pt x="134620" y="0"/>
                    <a:pt x="300736" y="0"/>
                  </a:cubicBezTo>
                  <a:lnTo>
                    <a:pt x="4712462" y="0"/>
                  </a:lnTo>
                  <a:cubicBezTo>
                    <a:pt x="4878578" y="0"/>
                    <a:pt x="5013198" y="134620"/>
                    <a:pt x="5013198" y="300736"/>
                  </a:cubicBezTo>
                  <a:lnTo>
                    <a:pt x="5013198" y="5024628"/>
                  </a:lnTo>
                  <a:cubicBezTo>
                    <a:pt x="5013198" y="5190744"/>
                    <a:pt x="4878578" y="5325364"/>
                    <a:pt x="4712462" y="5325364"/>
                  </a:cubicBezTo>
                  <a:lnTo>
                    <a:pt x="300736" y="5325364"/>
                  </a:lnTo>
                  <a:cubicBezTo>
                    <a:pt x="134620" y="5325364"/>
                    <a:pt x="0" y="5190744"/>
                    <a:pt x="0" y="5024628"/>
                  </a:cubicBezTo>
                  <a:close/>
                </a:path>
              </a:pathLst>
            </a:custGeom>
            <a:solidFill>
              <a:srgbClr val="FFFFFF"/>
            </a:solidFill>
            <a:ln w="19050" cap="sq">
              <a:solidFill>
                <a:srgbClr val="E1DBF3"/>
              </a:solidFill>
              <a:prstDash val="solid"/>
              <a:miter/>
            </a:ln>
          </p:spPr>
        </p:sp>
        <p:sp>
          <p:nvSpPr>
            <p:cNvPr name="TextBox 13" id="13"/>
            <p:cNvSpPr txBox="true"/>
            <p:nvPr/>
          </p:nvSpPr>
          <p:spPr>
            <a:xfrm>
              <a:off x="0" y="-19050"/>
              <a:ext cx="5013198" cy="5344452"/>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RPA &amp; UI test tools</a:t>
              </a:r>
            </a:p>
            <a:p>
              <a:pPr algn="l">
                <a:lnSpc>
                  <a:spcPts val="2070"/>
                </a:lnSpc>
              </a:pPr>
              <a:r>
                <a:rPr lang="en-US" sz="1725" b="true">
                  <a:solidFill>
                    <a:srgbClr val="6D28D9"/>
                  </a:solidFill>
                  <a:latin typeface="Calibri (MS) Bold"/>
                  <a:ea typeface="Calibri (MS) Bold"/>
                  <a:cs typeface="Calibri (MS) Bold"/>
                  <a:sym typeface="Calibri (MS) Bold"/>
                </a:rPr>
                <a:t>Enterprise RPA, Appium-style scripts</a:t>
              </a:r>
            </a:p>
            <a:p>
              <a:pPr algn="l">
                <a:lnSpc>
                  <a:spcPts val="1980"/>
                </a:lnSpc>
              </a:pPr>
              <a:r>
                <a:rPr lang="en-US" sz="1650" b="true">
                  <a:solidFill>
                    <a:srgbClr val="14142B"/>
                  </a:solidFill>
                  <a:latin typeface="Arial Bold"/>
                  <a:ea typeface="Arial Bold"/>
                  <a:cs typeface="Arial Bold"/>
                  <a:sym typeface="Arial Bold"/>
                </a:rPr>
                <a:t>Gap</a:t>
              </a:r>
            </a:p>
            <a:p>
              <a:pPr algn="l">
                <a:lnSpc>
                  <a:spcPts val="2250"/>
                </a:lnSpc>
              </a:pPr>
              <a:r>
                <a:rPr lang="en-US" sz="1875">
                  <a:solidFill>
                    <a:srgbClr val="63637E"/>
                  </a:solidFill>
                  <a:latin typeface="Calibri (MS)"/>
                  <a:ea typeface="Calibri (MS)"/>
                  <a:cs typeface="Calibri (MS)"/>
                  <a:sym typeface="Calibri (MS)"/>
                </a:rPr>
                <a:t>Built by developers with scripts and selectors. Not taught by an ordinary user, not driven by voice.</a:t>
              </a:r>
            </a:p>
          </p:txBody>
        </p:sp>
      </p:grpSp>
      <p:grpSp>
        <p:nvGrpSpPr>
          <p:cNvPr name="Group 14" id="14"/>
          <p:cNvGrpSpPr/>
          <p:nvPr/>
        </p:nvGrpSpPr>
        <p:grpSpPr>
          <a:xfrm rot="0">
            <a:off x="13280326" y="2465480"/>
            <a:ext cx="3759898" cy="3994052"/>
            <a:chOff x="0" y="0"/>
            <a:chExt cx="5013198" cy="5325402"/>
          </a:xfrm>
        </p:grpSpPr>
        <p:sp>
          <p:nvSpPr>
            <p:cNvPr name="Freeform 15" id="15"/>
            <p:cNvSpPr/>
            <p:nvPr/>
          </p:nvSpPr>
          <p:spPr>
            <a:xfrm flipH="false" flipV="false" rot="0">
              <a:off x="0" y="0"/>
              <a:ext cx="5013198" cy="5325364"/>
            </a:xfrm>
            <a:custGeom>
              <a:avLst/>
              <a:gdLst/>
              <a:ahLst/>
              <a:cxnLst/>
              <a:rect r="r" b="b" t="t" l="l"/>
              <a:pathLst>
                <a:path h="5325364" w="5013198">
                  <a:moveTo>
                    <a:pt x="0" y="300736"/>
                  </a:moveTo>
                  <a:cubicBezTo>
                    <a:pt x="0" y="134620"/>
                    <a:pt x="134620" y="0"/>
                    <a:pt x="300736" y="0"/>
                  </a:cubicBezTo>
                  <a:lnTo>
                    <a:pt x="4712462" y="0"/>
                  </a:lnTo>
                  <a:cubicBezTo>
                    <a:pt x="4878578" y="0"/>
                    <a:pt x="5013198" y="134620"/>
                    <a:pt x="5013198" y="300736"/>
                  </a:cubicBezTo>
                  <a:lnTo>
                    <a:pt x="5013198" y="5024628"/>
                  </a:lnTo>
                  <a:cubicBezTo>
                    <a:pt x="5013198" y="5190744"/>
                    <a:pt x="4878578" y="5325364"/>
                    <a:pt x="4712462" y="5325364"/>
                  </a:cubicBezTo>
                  <a:lnTo>
                    <a:pt x="300736" y="5325364"/>
                  </a:lnTo>
                  <a:cubicBezTo>
                    <a:pt x="134620" y="5325364"/>
                    <a:pt x="0" y="5190744"/>
                    <a:pt x="0" y="5024628"/>
                  </a:cubicBezTo>
                  <a:close/>
                </a:path>
              </a:pathLst>
            </a:custGeom>
            <a:solidFill>
              <a:srgbClr val="FFFFFF"/>
            </a:solidFill>
            <a:ln w="19050" cap="sq">
              <a:solidFill>
                <a:srgbClr val="E1DBF3"/>
              </a:solidFill>
              <a:prstDash val="solid"/>
              <a:miter/>
            </a:ln>
          </p:spPr>
        </p:sp>
        <p:sp>
          <p:nvSpPr>
            <p:cNvPr name="TextBox 16" id="16"/>
            <p:cNvSpPr txBox="true"/>
            <p:nvPr/>
          </p:nvSpPr>
          <p:spPr>
            <a:xfrm>
              <a:off x="0" y="-19050"/>
              <a:ext cx="5013198" cy="5344452"/>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LLM screen agents</a:t>
              </a:r>
            </a:p>
            <a:p>
              <a:pPr algn="l">
                <a:lnSpc>
                  <a:spcPts val="2070"/>
                </a:lnSpc>
              </a:pPr>
              <a:r>
                <a:rPr lang="en-US" sz="1725" b="true">
                  <a:solidFill>
                    <a:srgbClr val="6D28D9"/>
                  </a:solidFill>
                  <a:latin typeface="Calibri (MS) Bold"/>
                  <a:ea typeface="Calibri (MS) Bold"/>
                  <a:cs typeface="Calibri (MS) Bold"/>
                  <a:sym typeface="Calibri (MS) Bold"/>
                </a:rPr>
                <a:t>Generic mobile UI agents</a:t>
              </a:r>
            </a:p>
            <a:p>
              <a:pPr algn="l">
                <a:lnSpc>
                  <a:spcPts val="1980"/>
                </a:lnSpc>
              </a:pPr>
              <a:r>
                <a:rPr lang="en-US" sz="1650" b="true">
                  <a:solidFill>
                    <a:srgbClr val="14142B"/>
                  </a:solidFill>
                  <a:latin typeface="Arial Bold"/>
                  <a:ea typeface="Arial Bold"/>
                  <a:cs typeface="Arial Bold"/>
                  <a:sym typeface="Arial Bold"/>
                </a:rPr>
                <a:t>Gap</a:t>
              </a:r>
            </a:p>
            <a:p>
              <a:pPr algn="l">
                <a:lnSpc>
                  <a:spcPts val="2250"/>
                </a:lnSpc>
              </a:pPr>
              <a:r>
                <a:rPr lang="en-US" sz="1875">
                  <a:solidFill>
                    <a:srgbClr val="63637E"/>
                  </a:solidFill>
                  <a:latin typeface="Calibri (MS)"/>
                  <a:ea typeface="Calibri (MS)"/>
                  <a:cs typeface="Calibri (MS)"/>
                  <a:sym typeface="Calibri (MS)"/>
                </a:rPr>
                <a:t>Reason step by step on every run: slow, costly, unpredictable, and nothing learnt is reused next time.</a:t>
              </a:r>
            </a:p>
          </p:txBody>
        </p:sp>
      </p:grpSp>
      <p:grpSp>
        <p:nvGrpSpPr>
          <p:cNvPr name="Group 17" id="17"/>
          <p:cNvGrpSpPr/>
          <p:nvPr/>
        </p:nvGrpSpPr>
        <p:grpSpPr>
          <a:xfrm rot="0">
            <a:off x="1257300" y="6749996"/>
            <a:ext cx="15773400" cy="1724997"/>
            <a:chOff x="0" y="0"/>
            <a:chExt cx="21031200" cy="2299995"/>
          </a:xfrm>
        </p:grpSpPr>
        <p:sp>
          <p:nvSpPr>
            <p:cNvPr name="Freeform 18" id="18"/>
            <p:cNvSpPr/>
            <p:nvPr/>
          </p:nvSpPr>
          <p:spPr>
            <a:xfrm flipH="false" flipV="false" rot="0">
              <a:off x="0" y="0"/>
              <a:ext cx="21031200" cy="2300097"/>
            </a:xfrm>
            <a:custGeom>
              <a:avLst/>
              <a:gdLst/>
              <a:ahLst/>
              <a:cxnLst/>
              <a:rect r="r" b="b" t="t" l="l"/>
              <a:pathLst>
                <a:path h="2300097" w="21031200">
                  <a:moveTo>
                    <a:pt x="0" y="138049"/>
                  </a:moveTo>
                  <a:cubicBezTo>
                    <a:pt x="0" y="61722"/>
                    <a:pt x="61722" y="0"/>
                    <a:pt x="138049" y="0"/>
                  </a:cubicBezTo>
                  <a:lnTo>
                    <a:pt x="20893151" y="0"/>
                  </a:lnTo>
                  <a:cubicBezTo>
                    <a:pt x="20969351" y="0"/>
                    <a:pt x="21031200" y="61722"/>
                    <a:pt x="21031200" y="138049"/>
                  </a:cubicBezTo>
                  <a:lnTo>
                    <a:pt x="21031200" y="2162048"/>
                  </a:lnTo>
                  <a:cubicBezTo>
                    <a:pt x="21031200" y="2238248"/>
                    <a:pt x="20969478" y="2300097"/>
                    <a:pt x="20893151" y="2300097"/>
                  </a:cubicBezTo>
                  <a:lnTo>
                    <a:pt x="138049" y="2300097"/>
                  </a:lnTo>
                  <a:cubicBezTo>
                    <a:pt x="61849" y="2300097"/>
                    <a:pt x="0" y="2238375"/>
                    <a:pt x="0" y="2162048"/>
                  </a:cubicBezTo>
                  <a:close/>
                </a:path>
              </a:pathLst>
            </a:custGeom>
            <a:solidFill>
              <a:srgbClr val="F5F3FF"/>
            </a:solidFill>
          </p:spPr>
        </p:sp>
        <p:sp>
          <p:nvSpPr>
            <p:cNvPr name="TextBox 19" id="19"/>
            <p:cNvSpPr txBox="true"/>
            <p:nvPr/>
          </p:nvSpPr>
          <p:spPr>
            <a:xfrm>
              <a:off x="0" y="-57150"/>
              <a:ext cx="21031200" cy="2357145"/>
            </a:xfrm>
            <a:prstGeom prst="rect">
              <a:avLst/>
            </a:prstGeom>
          </p:spPr>
          <p:txBody>
            <a:bodyPr anchor="ctr" rtlCol="false" tIns="50800" lIns="50800" bIns="50800" rIns="50800"/>
            <a:lstStyle/>
            <a:p>
              <a:pPr algn="l">
                <a:lnSpc>
                  <a:spcPts val="2700"/>
                </a:lnSpc>
              </a:pPr>
              <a:r>
                <a:rPr lang="en-US" sz="2250" b="true">
                  <a:solidFill>
                    <a:srgbClr val="6D28D9"/>
                  </a:solidFill>
                  <a:latin typeface="Calibri (MS) Bold"/>
                  <a:ea typeface="Calibri (MS) Bold"/>
                  <a:cs typeface="Calibri (MS) Bold"/>
                  <a:sym typeface="Calibri (MS) Bold"/>
                </a:rPr>
                <a:t>The missing piece: </a:t>
              </a:r>
              <a:r>
                <a:rPr lang="en-US" sz="2250">
                  <a:solidFill>
                    <a:srgbClr val="14142B"/>
                  </a:solidFill>
                  <a:latin typeface="Calibri (MS)"/>
                  <a:ea typeface="Calibri (MS)"/>
                  <a:cs typeface="Calibri (MS)"/>
                  <a:sym typeface="Calibri (MS)"/>
                </a:rPr>
                <a:t>a system that learns a task from one demonstration, generalises it with slots, understands paraphrased voice commands, and replays it safely across apps without app-specific APIs.</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64875" y="399774"/>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Our Solutions &amp; Architecture Diagram</a:t>
              </a:r>
            </a:p>
          </p:txBody>
        </p:sp>
      </p:grpSp>
      <p:grpSp>
        <p:nvGrpSpPr>
          <p:cNvPr name="Group 5" id="5"/>
          <p:cNvGrpSpPr/>
          <p:nvPr/>
        </p:nvGrpSpPr>
        <p:grpSpPr>
          <a:xfrm rot="0">
            <a:off x="1257300" y="2324995"/>
            <a:ext cx="15773400" cy="390001"/>
            <a:chOff x="0" y="0"/>
            <a:chExt cx="21031200" cy="520002"/>
          </a:xfrm>
        </p:grpSpPr>
        <p:sp>
          <p:nvSpPr>
            <p:cNvPr name="Freeform 6" id="6"/>
            <p:cNvSpPr/>
            <p:nvPr/>
          </p:nvSpPr>
          <p:spPr>
            <a:xfrm flipH="false" flipV="false" rot="0">
              <a:off x="0" y="0"/>
              <a:ext cx="21031200" cy="520000"/>
            </a:xfrm>
            <a:custGeom>
              <a:avLst/>
              <a:gdLst/>
              <a:ahLst/>
              <a:cxnLst/>
              <a:rect r="r" b="b" t="t" l="l"/>
              <a:pathLst>
                <a:path h="520000" w="21031200">
                  <a:moveTo>
                    <a:pt x="0" y="0"/>
                  </a:moveTo>
                  <a:lnTo>
                    <a:pt x="21031200" y="0"/>
                  </a:lnTo>
                  <a:lnTo>
                    <a:pt x="21031200" y="520000"/>
                  </a:lnTo>
                  <a:lnTo>
                    <a:pt x="0" y="520000"/>
                  </a:lnTo>
                  <a:close/>
                </a:path>
              </a:pathLst>
            </a:custGeom>
            <a:blipFill>
              <a:blip r:embed="rId2">
                <a:alphaModFix amt="0"/>
              </a:blip>
              <a:stretch>
                <a:fillRect l="0" t="-738064" r="0" b="-738065"/>
              </a:stretch>
            </a:blipFill>
          </p:spPr>
        </p:sp>
        <p:sp>
          <p:nvSpPr>
            <p:cNvPr name="TextBox 7" id="7"/>
            <p:cNvSpPr txBox="true"/>
            <p:nvPr/>
          </p:nvSpPr>
          <p:spPr>
            <a:xfrm>
              <a:off x="0" y="-19050"/>
              <a:ext cx="21031200" cy="539052"/>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1 · LEARN — USER TEACHES ONCE</a:t>
              </a:r>
            </a:p>
          </p:txBody>
        </p:sp>
      </p:grpSp>
      <p:grpSp>
        <p:nvGrpSpPr>
          <p:cNvPr name="Group 8" id="8"/>
          <p:cNvGrpSpPr/>
          <p:nvPr/>
        </p:nvGrpSpPr>
        <p:grpSpPr>
          <a:xfrm rot="0">
            <a:off x="1247775" y="2765479"/>
            <a:ext cx="2873731" cy="1744047"/>
            <a:chOff x="0" y="0"/>
            <a:chExt cx="3831641" cy="2325395"/>
          </a:xfrm>
        </p:grpSpPr>
        <p:sp>
          <p:nvSpPr>
            <p:cNvPr name="Freeform 9" id="9"/>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10" id="10"/>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Voice command</a:t>
              </a:r>
            </a:p>
            <a:p>
              <a:pPr algn="ctr">
                <a:lnSpc>
                  <a:spcPts val="1980"/>
                </a:lnSpc>
              </a:pPr>
              <a:r>
                <a:rPr lang="en-US" sz="1650">
                  <a:solidFill>
                    <a:srgbClr val="63637E"/>
                  </a:solidFill>
                  <a:latin typeface="Calibri (MS)"/>
                  <a:ea typeface="Calibri (MS)"/>
                  <a:cs typeface="Calibri (MS)"/>
                  <a:sym typeface="Calibri (MS)"/>
                </a:rPr>
                <a:t>“Order 2 kg onions on Amazon”</a:t>
              </a:r>
            </a:p>
          </p:txBody>
        </p:sp>
      </p:grpSp>
      <p:grpSp>
        <p:nvGrpSpPr>
          <p:cNvPr name="Group 11" id="11"/>
          <p:cNvGrpSpPr/>
          <p:nvPr/>
        </p:nvGrpSpPr>
        <p:grpSpPr>
          <a:xfrm rot="0">
            <a:off x="4156977" y="3502504"/>
            <a:ext cx="284998" cy="269996"/>
            <a:chOff x="0" y="0"/>
            <a:chExt cx="379997" cy="359994"/>
          </a:xfrm>
        </p:grpSpPr>
        <p:sp>
          <p:nvSpPr>
            <p:cNvPr name="Freeform 12" id="12"/>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13" id="13"/>
          <p:cNvGrpSpPr/>
          <p:nvPr/>
        </p:nvGrpSpPr>
        <p:grpSpPr>
          <a:xfrm rot="0">
            <a:off x="4477455" y="2765479"/>
            <a:ext cx="2873731" cy="1744047"/>
            <a:chOff x="0" y="0"/>
            <a:chExt cx="3831641" cy="2325395"/>
          </a:xfrm>
        </p:grpSpPr>
        <p:sp>
          <p:nvSpPr>
            <p:cNvPr name="Freeform 14" id="14"/>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15" id="15"/>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Speech-to-intent</a:t>
              </a:r>
            </a:p>
            <a:p>
              <a:pPr algn="ctr">
                <a:lnSpc>
                  <a:spcPts val="1980"/>
                </a:lnSpc>
              </a:pPr>
              <a:r>
                <a:rPr lang="en-US" sz="1650">
                  <a:solidFill>
                    <a:srgbClr val="63637E"/>
                  </a:solidFill>
                  <a:latin typeface="Calibri (MS)"/>
                  <a:ea typeface="Calibri (MS)"/>
                  <a:cs typeface="Calibri (MS)"/>
                  <a:sym typeface="Calibri (MS)"/>
                </a:rPr>
                <a:t>Intent, app and slots extracted</a:t>
              </a:r>
            </a:p>
          </p:txBody>
        </p:sp>
      </p:grpSp>
      <p:grpSp>
        <p:nvGrpSpPr>
          <p:cNvPr name="Group 16" id="16"/>
          <p:cNvGrpSpPr/>
          <p:nvPr/>
        </p:nvGrpSpPr>
        <p:grpSpPr>
          <a:xfrm rot="0">
            <a:off x="7386657" y="3502504"/>
            <a:ext cx="284998" cy="269996"/>
            <a:chOff x="0" y="0"/>
            <a:chExt cx="379997" cy="359994"/>
          </a:xfrm>
        </p:grpSpPr>
        <p:sp>
          <p:nvSpPr>
            <p:cNvPr name="Freeform 17" id="17"/>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18" id="18"/>
          <p:cNvGrpSpPr/>
          <p:nvPr/>
        </p:nvGrpSpPr>
        <p:grpSpPr>
          <a:xfrm rot="0">
            <a:off x="7707135" y="2765479"/>
            <a:ext cx="2873731" cy="1744047"/>
            <a:chOff x="0" y="0"/>
            <a:chExt cx="3831641" cy="2325395"/>
          </a:xfrm>
        </p:grpSpPr>
        <p:sp>
          <p:nvSpPr>
            <p:cNvPr name="Freeform 19" id="19"/>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20" id="20"/>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Demo recorder</a:t>
              </a:r>
            </a:p>
            <a:p>
              <a:pPr algn="ctr">
                <a:lnSpc>
                  <a:spcPts val="1980"/>
                </a:lnSpc>
              </a:pPr>
              <a:r>
                <a:rPr lang="en-US" sz="1650">
                  <a:solidFill>
                    <a:srgbClr val="63637E"/>
                  </a:solidFill>
                  <a:latin typeface="Calibri (MS)"/>
                  <a:ea typeface="Calibri (MS)"/>
                  <a:cs typeface="Calibri (MS)"/>
                  <a:sym typeface="Calibri (MS)"/>
                </a:rPr>
                <a:t>Accessibility service logs UI-tree events</a:t>
              </a:r>
            </a:p>
          </p:txBody>
        </p:sp>
      </p:grpSp>
      <p:grpSp>
        <p:nvGrpSpPr>
          <p:cNvPr name="Group 21" id="21"/>
          <p:cNvGrpSpPr/>
          <p:nvPr/>
        </p:nvGrpSpPr>
        <p:grpSpPr>
          <a:xfrm rot="0">
            <a:off x="10616336" y="3502504"/>
            <a:ext cx="284998" cy="269996"/>
            <a:chOff x="0" y="0"/>
            <a:chExt cx="379997" cy="359994"/>
          </a:xfrm>
        </p:grpSpPr>
        <p:sp>
          <p:nvSpPr>
            <p:cNvPr name="Freeform 22" id="22"/>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23" id="23"/>
          <p:cNvGrpSpPr/>
          <p:nvPr/>
        </p:nvGrpSpPr>
        <p:grpSpPr>
          <a:xfrm rot="0">
            <a:off x="10946340" y="2775004"/>
            <a:ext cx="2854681" cy="1724997"/>
            <a:chOff x="0" y="0"/>
            <a:chExt cx="3806241" cy="2299995"/>
          </a:xfrm>
        </p:grpSpPr>
        <p:sp>
          <p:nvSpPr>
            <p:cNvPr name="Freeform 24" id="24"/>
            <p:cNvSpPr/>
            <p:nvPr/>
          </p:nvSpPr>
          <p:spPr>
            <a:xfrm flipH="false" flipV="false" rot="0">
              <a:off x="0" y="0"/>
              <a:ext cx="3806317" cy="2300097"/>
            </a:xfrm>
            <a:custGeom>
              <a:avLst/>
              <a:gdLst/>
              <a:ahLst/>
              <a:cxnLst/>
              <a:rect r="r" b="b" t="t" l="l"/>
              <a:pathLst>
                <a:path h="2300097" w="3806317">
                  <a:moveTo>
                    <a:pt x="0" y="138049"/>
                  </a:moveTo>
                  <a:cubicBezTo>
                    <a:pt x="0" y="61722"/>
                    <a:pt x="61722" y="0"/>
                    <a:pt x="138049" y="0"/>
                  </a:cubicBezTo>
                  <a:lnTo>
                    <a:pt x="3668268" y="0"/>
                  </a:lnTo>
                  <a:cubicBezTo>
                    <a:pt x="3744468" y="0"/>
                    <a:pt x="3806317" y="61722"/>
                    <a:pt x="3806317" y="138049"/>
                  </a:cubicBezTo>
                  <a:lnTo>
                    <a:pt x="3806317" y="2162048"/>
                  </a:lnTo>
                  <a:cubicBezTo>
                    <a:pt x="3806317" y="2238248"/>
                    <a:pt x="3744595" y="2300097"/>
                    <a:pt x="3668268" y="2300097"/>
                  </a:cubicBezTo>
                  <a:lnTo>
                    <a:pt x="138049" y="2300097"/>
                  </a:lnTo>
                  <a:cubicBezTo>
                    <a:pt x="61849" y="2300097"/>
                    <a:pt x="0" y="2238375"/>
                    <a:pt x="0" y="2162048"/>
                  </a:cubicBezTo>
                  <a:close/>
                </a:path>
              </a:pathLst>
            </a:custGeom>
            <a:solidFill>
              <a:srgbClr val="6D28D9"/>
            </a:solidFill>
          </p:spPr>
        </p:sp>
        <p:sp>
          <p:nvSpPr>
            <p:cNvPr name="TextBox 25" id="25"/>
            <p:cNvSpPr txBox="true"/>
            <p:nvPr/>
          </p:nvSpPr>
          <p:spPr>
            <a:xfrm>
              <a:off x="0" y="-19050"/>
              <a:ext cx="3806241" cy="2319045"/>
            </a:xfrm>
            <a:prstGeom prst="rect">
              <a:avLst/>
            </a:prstGeom>
          </p:spPr>
          <p:txBody>
            <a:bodyPr anchor="ctr" rtlCol="false" tIns="50800" lIns="50800" bIns="50800" rIns="50800"/>
            <a:lstStyle/>
            <a:p>
              <a:pPr algn="ctr">
                <a:lnSpc>
                  <a:spcPts val="2340"/>
                </a:lnSpc>
              </a:pPr>
              <a:r>
                <a:rPr lang="en-US" sz="1950" b="true">
                  <a:solidFill>
                    <a:srgbClr val="FFFFFF"/>
                  </a:solidFill>
                  <a:latin typeface="Arial Bold"/>
                  <a:ea typeface="Arial Bold"/>
                  <a:cs typeface="Arial Bold"/>
                  <a:sym typeface="Arial Bold"/>
                </a:rPr>
                <a:t>Flow synthesiser</a:t>
              </a:r>
            </a:p>
            <a:p>
              <a:pPr algn="ctr">
                <a:lnSpc>
                  <a:spcPts val="1980"/>
                </a:lnSpc>
              </a:pPr>
              <a:r>
                <a:rPr lang="en-US" sz="1650">
                  <a:solidFill>
                    <a:srgbClr val="FFFFFF"/>
                  </a:solidFill>
                  <a:latin typeface="Calibri (MS)"/>
                  <a:ea typeface="Calibri (MS)"/>
                  <a:cs typeface="Calibri (MS)"/>
                  <a:sym typeface="Calibri (MS)"/>
                </a:rPr>
                <a:t>Generalises taps into a step graph with slots</a:t>
              </a:r>
            </a:p>
          </p:txBody>
        </p:sp>
      </p:grpSp>
      <p:grpSp>
        <p:nvGrpSpPr>
          <p:cNvPr name="Group 26" id="26"/>
          <p:cNvGrpSpPr/>
          <p:nvPr/>
        </p:nvGrpSpPr>
        <p:grpSpPr>
          <a:xfrm rot="0">
            <a:off x="13846016" y="3502504"/>
            <a:ext cx="284998" cy="269996"/>
            <a:chOff x="0" y="0"/>
            <a:chExt cx="379997" cy="359994"/>
          </a:xfrm>
        </p:grpSpPr>
        <p:sp>
          <p:nvSpPr>
            <p:cNvPr name="Freeform 27" id="27"/>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28" id="28"/>
          <p:cNvGrpSpPr/>
          <p:nvPr/>
        </p:nvGrpSpPr>
        <p:grpSpPr>
          <a:xfrm rot="0">
            <a:off x="14176019" y="2775004"/>
            <a:ext cx="2854681" cy="1724997"/>
            <a:chOff x="0" y="0"/>
            <a:chExt cx="3806241" cy="2299995"/>
          </a:xfrm>
        </p:grpSpPr>
        <p:sp>
          <p:nvSpPr>
            <p:cNvPr name="Freeform 29" id="29"/>
            <p:cNvSpPr/>
            <p:nvPr/>
          </p:nvSpPr>
          <p:spPr>
            <a:xfrm flipH="false" flipV="false" rot="0">
              <a:off x="0" y="0"/>
              <a:ext cx="3806317" cy="2300097"/>
            </a:xfrm>
            <a:custGeom>
              <a:avLst/>
              <a:gdLst/>
              <a:ahLst/>
              <a:cxnLst/>
              <a:rect r="r" b="b" t="t" l="l"/>
              <a:pathLst>
                <a:path h="2300097" w="3806317">
                  <a:moveTo>
                    <a:pt x="0" y="138049"/>
                  </a:moveTo>
                  <a:cubicBezTo>
                    <a:pt x="0" y="61722"/>
                    <a:pt x="61722" y="0"/>
                    <a:pt x="138049" y="0"/>
                  </a:cubicBezTo>
                  <a:lnTo>
                    <a:pt x="3668268" y="0"/>
                  </a:lnTo>
                  <a:cubicBezTo>
                    <a:pt x="3744468" y="0"/>
                    <a:pt x="3806317" y="61722"/>
                    <a:pt x="3806317" y="138049"/>
                  </a:cubicBezTo>
                  <a:lnTo>
                    <a:pt x="3806317" y="2162048"/>
                  </a:lnTo>
                  <a:cubicBezTo>
                    <a:pt x="3806317" y="2238248"/>
                    <a:pt x="3744595" y="2300097"/>
                    <a:pt x="3668268" y="2300097"/>
                  </a:cubicBezTo>
                  <a:lnTo>
                    <a:pt x="138049" y="2300097"/>
                  </a:lnTo>
                  <a:cubicBezTo>
                    <a:pt x="61849" y="2300097"/>
                    <a:pt x="0" y="2238375"/>
                    <a:pt x="0" y="2162048"/>
                  </a:cubicBezTo>
                  <a:close/>
                </a:path>
              </a:pathLst>
            </a:custGeom>
            <a:solidFill>
              <a:srgbClr val="704EA6"/>
            </a:solidFill>
          </p:spPr>
        </p:sp>
        <p:sp>
          <p:nvSpPr>
            <p:cNvPr name="TextBox 30" id="30"/>
            <p:cNvSpPr txBox="true"/>
            <p:nvPr/>
          </p:nvSpPr>
          <p:spPr>
            <a:xfrm>
              <a:off x="0" y="-19050"/>
              <a:ext cx="3806241" cy="2319045"/>
            </a:xfrm>
            <a:prstGeom prst="rect">
              <a:avLst/>
            </a:prstGeom>
          </p:spPr>
          <p:txBody>
            <a:bodyPr anchor="ctr" rtlCol="false" tIns="50800" lIns="50800" bIns="50800" rIns="50800"/>
            <a:lstStyle/>
            <a:p>
              <a:pPr algn="ctr">
                <a:lnSpc>
                  <a:spcPts val="2340"/>
                </a:lnSpc>
              </a:pPr>
              <a:r>
                <a:rPr lang="en-US" sz="1950" b="true">
                  <a:solidFill>
                    <a:srgbClr val="FFFFFF"/>
                  </a:solidFill>
                  <a:latin typeface="Arial Bold"/>
                  <a:ea typeface="Arial Bold"/>
                  <a:cs typeface="Arial Bold"/>
                  <a:sym typeface="Arial Bold"/>
                </a:rPr>
                <a:t>Flow library</a:t>
              </a:r>
            </a:p>
            <a:p>
              <a:pPr algn="ctr">
                <a:lnSpc>
                  <a:spcPts val="1980"/>
                </a:lnSpc>
              </a:pPr>
              <a:r>
                <a:rPr lang="en-US" sz="1650">
                  <a:solidFill>
                    <a:srgbClr val="FFFFFF"/>
                  </a:solidFill>
                  <a:latin typeface="Calibri (MS)"/>
                  <a:ea typeface="Calibri (MS)"/>
                  <a:cs typeface="Calibri (MS)"/>
                  <a:sym typeface="Calibri (MS)"/>
                </a:rPr>
                <a:t>Stored per app, per intent</a:t>
              </a:r>
            </a:p>
          </p:txBody>
        </p:sp>
      </p:grpSp>
      <p:grpSp>
        <p:nvGrpSpPr>
          <p:cNvPr name="Group 31" id="31"/>
          <p:cNvGrpSpPr/>
          <p:nvPr/>
        </p:nvGrpSpPr>
        <p:grpSpPr>
          <a:xfrm rot="0">
            <a:off x="1257300" y="5174999"/>
            <a:ext cx="15773400" cy="390001"/>
            <a:chOff x="0" y="0"/>
            <a:chExt cx="21031200" cy="520002"/>
          </a:xfrm>
        </p:grpSpPr>
        <p:sp>
          <p:nvSpPr>
            <p:cNvPr name="Freeform 32" id="32"/>
            <p:cNvSpPr/>
            <p:nvPr/>
          </p:nvSpPr>
          <p:spPr>
            <a:xfrm flipH="false" flipV="false" rot="0">
              <a:off x="0" y="0"/>
              <a:ext cx="21031200" cy="520000"/>
            </a:xfrm>
            <a:custGeom>
              <a:avLst/>
              <a:gdLst/>
              <a:ahLst/>
              <a:cxnLst/>
              <a:rect r="r" b="b" t="t" l="l"/>
              <a:pathLst>
                <a:path h="520000" w="21031200">
                  <a:moveTo>
                    <a:pt x="0" y="0"/>
                  </a:moveTo>
                  <a:lnTo>
                    <a:pt x="21031200" y="0"/>
                  </a:lnTo>
                  <a:lnTo>
                    <a:pt x="21031200" y="520000"/>
                  </a:lnTo>
                  <a:lnTo>
                    <a:pt x="0" y="520000"/>
                  </a:lnTo>
                  <a:close/>
                </a:path>
              </a:pathLst>
            </a:custGeom>
            <a:blipFill>
              <a:blip r:embed="rId2">
                <a:alphaModFix amt="0"/>
              </a:blip>
              <a:stretch>
                <a:fillRect l="0" t="-738064" r="0" b="-738065"/>
              </a:stretch>
            </a:blipFill>
          </p:spPr>
        </p:sp>
        <p:sp>
          <p:nvSpPr>
            <p:cNvPr name="TextBox 33" id="33"/>
            <p:cNvSpPr txBox="true"/>
            <p:nvPr/>
          </p:nvSpPr>
          <p:spPr>
            <a:xfrm>
              <a:off x="0" y="-19050"/>
              <a:ext cx="21031200" cy="539052"/>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2 · REPLAY — USER JUST SPEAKS</a:t>
              </a:r>
            </a:p>
          </p:txBody>
        </p:sp>
      </p:grpSp>
      <p:grpSp>
        <p:nvGrpSpPr>
          <p:cNvPr name="Group 34" id="34"/>
          <p:cNvGrpSpPr/>
          <p:nvPr/>
        </p:nvGrpSpPr>
        <p:grpSpPr>
          <a:xfrm rot="0">
            <a:off x="1247775" y="5615473"/>
            <a:ext cx="2873731" cy="1744047"/>
            <a:chOff x="0" y="0"/>
            <a:chExt cx="3831641" cy="2325395"/>
          </a:xfrm>
        </p:grpSpPr>
        <p:sp>
          <p:nvSpPr>
            <p:cNvPr name="Freeform 35" id="35"/>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36" id="36"/>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New utterance</a:t>
              </a:r>
            </a:p>
            <a:p>
              <a:pPr algn="ctr">
                <a:lnSpc>
                  <a:spcPts val="1980"/>
                </a:lnSpc>
              </a:pPr>
              <a:r>
                <a:rPr lang="en-US" sz="1650">
                  <a:solidFill>
                    <a:srgbClr val="63637E"/>
                  </a:solidFill>
                  <a:latin typeface="Calibri (MS)"/>
                  <a:ea typeface="Calibri (MS)"/>
                  <a:cs typeface="Calibri (MS)"/>
                  <a:sym typeface="Calibri (MS)"/>
                </a:rPr>
                <a:t>“Get me 5 kg rice”</a:t>
              </a:r>
            </a:p>
          </p:txBody>
        </p:sp>
      </p:grpSp>
      <p:grpSp>
        <p:nvGrpSpPr>
          <p:cNvPr name="Group 37" id="37"/>
          <p:cNvGrpSpPr/>
          <p:nvPr/>
        </p:nvGrpSpPr>
        <p:grpSpPr>
          <a:xfrm rot="0">
            <a:off x="4156977" y="6352499"/>
            <a:ext cx="284998" cy="269996"/>
            <a:chOff x="0" y="0"/>
            <a:chExt cx="379997" cy="359994"/>
          </a:xfrm>
        </p:grpSpPr>
        <p:sp>
          <p:nvSpPr>
            <p:cNvPr name="Freeform 38" id="38"/>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39" id="39"/>
          <p:cNvGrpSpPr/>
          <p:nvPr/>
        </p:nvGrpSpPr>
        <p:grpSpPr>
          <a:xfrm rot="0">
            <a:off x="4477455" y="5615473"/>
            <a:ext cx="2873731" cy="1744047"/>
            <a:chOff x="0" y="0"/>
            <a:chExt cx="3831641" cy="2325395"/>
          </a:xfrm>
        </p:grpSpPr>
        <p:sp>
          <p:nvSpPr>
            <p:cNvPr name="Freeform 40" id="40"/>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41" id="41"/>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Flow matcher</a:t>
              </a:r>
            </a:p>
            <a:p>
              <a:pPr algn="ctr">
                <a:lnSpc>
                  <a:spcPts val="1980"/>
                </a:lnSpc>
              </a:pPr>
              <a:r>
                <a:rPr lang="en-US" sz="1650">
                  <a:solidFill>
                    <a:srgbClr val="63637E"/>
                  </a:solidFill>
                  <a:latin typeface="Calibri (MS)"/>
                  <a:ea typeface="Calibri (MS)"/>
                  <a:cs typeface="Calibri (MS)"/>
                  <a:sym typeface="Calibri (MS)"/>
                </a:rPr>
                <a:t>Paraphrase match + slot fill</a:t>
              </a:r>
            </a:p>
          </p:txBody>
        </p:sp>
      </p:grpSp>
      <p:grpSp>
        <p:nvGrpSpPr>
          <p:cNvPr name="Group 42" id="42"/>
          <p:cNvGrpSpPr/>
          <p:nvPr/>
        </p:nvGrpSpPr>
        <p:grpSpPr>
          <a:xfrm rot="0">
            <a:off x="7386657" y="6352499"/>
            <a:ext cx="284998" cy="269996"/>
            <a:chOff x="0" y="0"/>
            <a:chExt cx="379997" cy="359994"/>
          </a:xfrm>
        </p:grpSpPr>
        <p:sp>
          <p:nvSpPr>
            <p:cNvPr name="Freeform 43" id="43"/>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44" id="44"/>
          <p:cNvGrpSpPr/>
          <p:nvPr/>
        </p:nvGrpSpPr>
        <p:grpSpPr>
          <a:xfrm rot="0">
            <a:off x="7716660" y="5624998"/>
            <a:ext cx="2854681" cy="1724997"/>
            <a:chOff x="0" y="0"/>
            <a:chExt cx="3806241" cy="2299995"/>
          </a:xfrm>
        </p:grpSpPr>
        <p:sp>
          <p:nvSpPr>
            <p:cNvPr name="Freeform 45" id="45"/>
            <p:cNvSpPr/>
            <p:nvPr/>
          </p:nvSpPr>
          <p:spPr>
            <a:xfrm flipH="false" flipV="false" rot="0">
              <a:off x="0" y="0"/>
              <a:ext cx="3806317" cy="2300097"/>
            </a:xfrm>
            <a:custGeom>
              <a:avLst/>
              <a:gdLst/>
              <a:ahLst/>
              <a:cxnLst/>
              <a:rect r="r" b="b" t="t" l="l"/>
              <a:pathLst>
                <a:path h="2300097" w="3806317">
                  <a:moveTo>
                    <a:pt x="0" y="138049"/>
                  </a:moveTo>
                  <a:cubicBezTo>
                    <a:pt x="0" y="61722"/>
                    <a:pt x="61722" y="0"/>
                    <a:pt x="138049" y="0"/>
                  </a:cubicBezTo>
                  <a:lnTo>
                    <a:pt x="3668268" y="0"/>
                  </a:lnTo>
                  <a:cubicBezTo>
                    <a:pt x="3744468" y="0"/>
                    <a:pt x="3806317" y="61722"/>
                    <a:pt x="3806317" y="138049"/>
                  </a:cubicBezTo>
                  <a:lnTo>
                    <a:pt x="3806317" y="2162048"/>
                  </a:lnTo>
                  <a:cubicBezTo>
                    <a:pt x="3806317" y="2238248"/>
                    <a:pt x="3744595" y="2300097"/>
                    <a:pt x="3668268" y="2300097"/>
                  </a:cubicBezTo>
                  <a:lnTo>
                    <a:pt x="138049" y="2300097"/>
                  </a:lnTo>
                  <a:cubicBezTo>
                    <a:pt x="61849" y="2300097"/>
                    <a:pt x="0" y="2238375"/>
                    <a:pt x="0" y="2162048"/>
                  </a:cubicBezTo>
                  <a:close/>
                </a:path>
              </a:pathLst>
            </a:custGeom>
            <a:solidFill>
              <a:srgbClr val="6D28D9"/>
            </a:solidFill>
          </p:spPr>
        </p:sp>
        <p:sp>
          <p:nvSpPr>
            <p:cNvPr name="TextBox 46" id="46"/>
            <p:cNvSpPr txBox="true"/>
            <p:nvPr/>
          </p:nvSpPr>
          <p:spPr>
            <a:xfrm>
              <a:off x="0" y="-19050"/>
              <a:ext cx="3806241" cy="2319045"/>
            </a:xfrm>
            <a:prstGeom prst="rect">
              <a:avLst/>
            </a:prstGeom>
          </p:spPr>
          <p:txBody>
            <a:bodyPr anchor="ctr" rtlCol="false" tIns="50800" lIns="50800" bIns="50800" rIns="50800"/>
            <a:lstStyle/>
            <a:p>
              <a:pPr algn="ctr">
                <a:lnSpc>
                  <a:spcPts val="2340"/>
                </a:lnSpc>
              </a:pPr>
              <a:r>
                <a:rPr lang="en-US" sz="1950" b="true">
                  <a:solidFill>
                    <a:srgbClr val="FFFFFF"/>
                  </a:solidFill>
                  <a:latin typeface="Arial Bold"/>
                  <a:ea typeface="Arial Bold"/>
                  <a:cs typeface="Arial Bold"/>
                  <a:sym typeface="Arial Bold"/>
                </a:rPr>
                <a:t>Replay engine</a:t>
              </a:r>
            </a:p>
            <a:p>
              <a:pPr algn="ctr">
                <a:lnSpc>
                  <a:spcPts val="1980"/>
                </a:lnSpc>
              </a:pPr>
              <a:r>
                <a:rPr lang="en-US" sz="1650">
                  <a:solidFill>
                    <a:srgbClr val="FFFFFF"/>
                  </a:solidFill>
                  <a:latin typeface="Calibri (MS)"/>
                  <a:ea typeface="Calibri (MS)"/>
                  <a:cs typeface="Calibri (MS)"/>
                  <a:sym typeface="Calibri (MS)"/>
                </a:rPr>
                <a:t>Finds targets by meaning, not pixels</a:t>
              </a:r>
            </a:p>
          </p:txBody>
        </p:sp>
      </p:grpSp>
      <p:grpSp>
        <p:nvGrpSpPr>
          <p:cNvPr name="Group 47" id="47"/>
          <p:cNvGrpSpPr/>
          <p:nvPr/>
        </p:nvGrpSpPr>
        <p:grpSpPr>
          <a:xfrm rot="0">
            <a:off x="10616336" y="6352499"/>
            <a:ext cx="284998" cy="269996"/>
            <a:chOff x="0" y="0"/>
            <a:chExt cx="379997" cy="359994"/>
          </a:xfrm>
        </p:grpSpPr>
        <p:sp>
          <p:nvSpPr>
            <p:cNvPr name="Freeform 48" id="48"/>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49" id="49"/>
          <p:cNvGrpSpPr/>
          <p:nvPr/>
        </p:nvGrpSpPr>
        <p:grpSpPr>
          <a:xfrm rot="0">
            <a:off x="10946340" y="5624998"/>
            <a:ext cx="2854681" cy="1724997"/>
            <a:chOff x="0" y="0"/>
            <a:chExt cx="3806241" cy="2299995"/>
          </a:xfrm>
        </p:grpSpPr>
        <p:sp>
          <p:nvSpPr>
            <p:cNvPr name="Freeform 50" id="50"/>
            <p:cNvSpPr/>
            <p:nvPr/>
          </p:nvSpPr>
          <p:spPr>
            <a:xfrm flipH="false" flipV="false" rot="0">
              <a:off x="0" y="0"/>
              <a:ext cx="3806317" cy="2300097"/>
            </a:xfrm>
            <a:custGeom>
              <a:avLst/>
              <a:gdLst/>
              <a:ahLst/>
              <a:cxnLst/>
              <a:rect r="r" b="b" t="t" l="l"/>
              <a:pathLst>
                <a:path h="2300097" w="3806317">
                  <a:moveTo>
                    <a:pt x="0" y="138049"/>
                  </a:moveTo>
                  <a:cubicBezTo>
                    <a:pt x="0" y="61722"/>
                    <a:pt x="61722" y="0"/>
                    <a:pt x="138049" y="0"/>
                  </a:cubicBezTo>
                  <a:lnTo>
                    <a:pt x="3668268" y="0"/>
                  </a:lnTo>
                  <a:cubicBezTo>
                    <a:pt x="3744468" y="0"/>
                    <a:pt x="3806317" y="61722"/>
                    <a:pt x="3806317" y="138049"/>
                  </a:cubicBezTo>
                  <a:lnTo>
                    <a:pt x="3806317" y="2162048"/>
                  </a:lnTo>
                  <a:cubicBezTo>
                    <a:pt x="3806317" y="2238248"/>
                    <a:pt x="3744595" y="2300097"/>
                    <a:pt x="3668268" y="2300097"/>
                  </a:cubicBezTo>
                  <a:lnTo>
                    <a:pt x="138049" y="2300097"/>
                  </a:lnTo>
                  <a:cubicBezTo>
                    <a:pt x="61849" y="2300097"/>
                    <a:pt x="0" y="2238375"/>
                    <a:pt x="0" y="2162048"/>
                  </a:cubicBezTo>
                  <a:close/>
                </a:path>
              </a:pathLst>
            </a:custGeom>
            <a:solidFill>
              <a:srgbClr val="704EA6"/>
            </a:solidFill>
          </p:spPr>
        </p:sp>
        <p:sp>
          <p:nvSpPr>
            <p:cNvPr name="TextBox 51" id="51"/>
            <p:cNvSpPr txBox="true"/>
            <p:nvPr/>
          </p:nvSpPr>
          <p:spPr>
            <a:xfrm>
              <a:off x="0" y="-19050"/>
              <a:ext cx="3806241" cy="2319045"/>
            </a:xfrm>
            <a:prstGeom prst="rect">
              <a:avLst/>
            </a:prstGeom>
          </p:spPr>
          <p:txBody>
            <a:bodyPr anchor="ctr" rtlCol="false" tIns="50800" lIns="50800" bIns="50800" rIns="50800"/>
            <a:lstStyle/>
            <a:p>
              <a:pPr algn="ctr">
                <a:lnSpc>
                  <a:spcPts val="2340"/>
                </a:lnSpc>
              </a:pPr>
              <a:r>
                <a:rPr lang="en-US" sz="1950" b="true">
                  <a:solidFill>
                    <a:srgbClr val="FFFFFF"/>
                  </a:solidFill>
                  <a:latin typeface="Arial Bold"/>
                  <a:ea typeface="Arial Bold"/>
                  <a:cs typeface="Arial Bold"/>
                  <a:sym typeface="Arial Bold"/>
                </a:rPr>
                <a:t>Recovery</a:t>
              </a:r>
            </a:p>
            <a:p>
              <a:pPr algn="ctr">
                <a:lnSpc>
                  <a:spcPts val="1980"/>
                </a:lnSpc>
              </a:pPr>
              <a:r>
                <a:rPr lang="en-US" sz="1650">
                  <a:solidFill>
                    <a:srgbClr val="FFFFFF"/>
                  </a:solidFill>
                  <a:latin typeface="Calibri (MS)"/>
                  <a:ea typeface="Calibri (MS)"/>
                  <a:cs typeface="Calibri (MS)"/>
                  <a:sym typeface="Calibri (MS)"/>
                </a:rPr>
                <a:t>Re-plans if screen changed</a:t>
              </a:r>
            </a:p>
          </p:txBody>
        </p:sp>
      </p:grpSp>
      <p:grpSp>
        <p:nvGrpSpPr>
          <p:cNvPr name="Group 52" id="52"/>
          <p:cNvGrpSpPr/>
          <p:nvPr/>
        </p:nvGrpSpPr>
        <p:grpSpPr>
          <a:xfrm rot="0">
            <a:off x="13846016" y="6352499"/>
            <a:ext cx="284998" cy="269996"/>
            <a:chOff x="0" y="0"/>
            <a:chExt cx="379997" cy="359994"/>
          </a:xfrm>
        </p:grpSpPr>
        <p:sp>
          <p:nvSpPr>
            <p:cNvPr name="Freeform 53" id="53"/>
            <p:cNvSpPr/>
            <p:nvPr/>
          </p:nvSpPr>
          <p:spPr>
            <a:xfrm flipH="false" flipV="false" rot="0">
              <a:off x="0" y="0"/>
              <a:ext cx="379984" cy="360045"/>
            </a:xfrm>
            <a:custGeom>
              <a:avLst/>
              <a:gdLst/>
              <a:ahLst/>
              <a:cxnLst/>
              <a:rect r="r" b="b" t="t" l="l"/>
              <a:pathLst>
                <a:path h="360045" w="379984">
                  <a:moveTo>
                    <a:pt x="0" y="90043"/>
                  </a:moveTo>
                  <a:lnTo>
                    <a:pt x="200025" y="90043"/>
                  </a:lnTo>
                  <a:lnTo>
                    <a:pt x="200025" y="0"/>
                  </a:lnTo>
                  <a:lnTo>
                    <a:pt x="379984" y="179959"/>
                  </a:lnTo>
                  <a:lnTo>
                    <a:pt x="200025" y="360045"/>
                  </a:lnTo>
                  <a:lnTo>
                    <a:pt x="200025" y="270002"/>
                  </a:lnTo>
                  <a:lnTo>
                    <a:pt x="0" y="270002"/>
                  </a:lnTo>
                  <a:close/>
                </a:path>
              </a:pathLst>
            </a:custGeom>
            <a:solidFill>
              <a:srgbClr val="B9A9E0"/>
            </a:solidFill>
          </p:spPr>
        </p:sp>
      </p:grpSp>
      <p:grpSp>
        <p:nvGrpSpPr>
          <p:cNvPr name="Group 54" id="54"/>
          <p:cNvGrpSpPr/>
          <p:nvPr/>
        </p:nvGrpSpPr>
        <p:grpSpPr>
          <a:xfrm rot="0">
            <a:off x="14166494" y="5615473"/>
            <a:ext cx="2873731" cy="1744047"/>
            <a:chOff x="0" y="0"/>
            <a:chExt cx="3831641" cy="2325395"/>
          </a:xfrm>
        </p:grpSpPr>
        <p:sp>
          <p:nvSpPr>
            <p:cNvPr name="Freeform 55" id="55"/>
            <p:cNvSpPr/>
            <p:nvPr/>
          </p:nvSpPr>
          <p:spPr>
            <a:xfrm flipH="false" flipV="false" rot="0">
              <a:off x="0" y="0"/>
              <a:ext cx="3831717" cy="2325497"/>
            </a:xfrm>
            <a:custGeom>
              <a:avLst/>
              <a:gdLst/>
              <a:ahLst/>
              <a:cxnLst/>
              <a:rect r="r" b="b" t="t" l="l"/>
              <a:pathLst>
                <a:path h="2325497" w="3831717">
                  <a:moveTo>
                    <a:pt x="0" y="139573"/>
                  </a:moveTo>
                  <a:cubicBezTo>
                    <a:pt x="0" y="62484"/>
                    <a:pt x="62484" y="0"/>
                    <a:pt x="139573" y="0"/>
                  </a:cubicBezTo>
                  <a:lnTo>
                    <a:pt x="3692144" y="0"/>
                  </a:lnTo>
                  <a:cubicBezTo>
                    <a:pt x="3769233" y="0"/>
                    <a:pt x="3831717" y="62484"/>
                    <a:pt x="3831717" y="139573"/>
                  </a:cubicBezTo>
                  <a:lnTo>
                    <a:pt x="3831717" y="2185924"/>
                  </a:lnTo>
                  <a:cubicBezTo>
                    <a:pt x="3831717" y="2263013"/>
                    <a:pt x="3769233" y="2325497"/>
                    <a:pt x="3692144" y="2325497"/>
                  </a:cubicBezTo>
                  <a:lnTo>
                    <a:pt x="139573" y="2325497"/>
                  </a:lnTo>
                  <a:cubicBezTo>
                    <a:pt x="62484" y="2325370"/>
                    <a:pt x="0" y="2262886"/>
                    <a:pt x="0" y="2185924"/>
                  </a:cubicBezTo>
                  <a:close/>
                </a:path>
              </a:pathLst>
            </a:custGeom>
            <a:solidFill>
              <a:srgbClr val="FFFFFF"/>
            </a:solidFill>
            <a:ln w="19050" cap="sq">
              <a:solidFill>
                <a:srgbClr val="E1DBF3"/>
              </a:solidFill>
              <a:prstDash val="solid"/>
              <a:miter/>
            </a:ln>
          </p:spPr>
        </p:sp>
        <p:sp>
          <p:nvSpPr>
            <p:cNvPr name="TextBox 56" id="56"/>
            <p:cNvSpPr txBox="true"/>
            <p:nvPr/>
          </p:nvSpPr>
          <p:spPr>
            <a:xfrm>
              <a:off x="0" y="-19050"/>
              <a:ext cx="3831641" cy="2344445"/>
            </a:xfrm>
            <a:prstGeom prst="rect">
              <a:avLst/>
            </a:prstGeom>
          </p:spPr>
          <p:txBody>
            <a:bodyPr anchor="ctr" rtlCol="false" tIns="50800" lIns="50800" bIns="50800" rIns="50800"/>
            <a:lstStyle/>
            <a:p>
              <a:pPr algn="ctr">
                <a:lnSpc>
                  <a:spcPts val="2340"/>
                </a:lnSpc>
              </a:pPr>
              <a:r>
                <a:rPr lang="en-US" sz="1950" b="true">
                  <a:solidFill>
                    <a:srgbClr val="14142B"/>
                  </a:solidFill>
                  <a:latin typeface="Arial Bold"/>
                  <a:ea typeface="Arial Bold"/>
                  <a:cs typeface="Arial Bold"/>
                  <a:sym typeface="Arial Bold"/>
                </a:rPr>
                <a:t>Ask user</a:t>
              </a:r>
            </a:p>
            <a:p>
              <a:pPr algn="ctr">
                <a:lnSpc>
                  <a:spcPts val="1980"/>
                </a:lnSpc>
              </a:pPr>
              <a:r>
                <a:rPr lang="en-US" sz="1650">
                  <a:solidFill>
                    <a:srgbClr val="63637E"/>
                  </a:solidFill>
                  <a:latin typeface="Calibri (MS)"/>
                  <a:ea typeface="Calibri (MS)"/>
                  <a:cs typeface="Calibri (MS)"/>
                  <a:sym typeface="Calibri (MS)"/>
                </a:rPr>
                <a:t>Only if stuck; pauses at payment / login</a:t>
              </a:r>
            </a:p>
          </p:txBody>
        </p:sp>
      </p:grpSp>
      <p:grpSp>
        <p:nvGrpSpPr>
          <p:cNvPr name="Group 57" id="57"/>
          <p:cNvGrpSpPr/>
          <p:nvPr/>
        </p:nvGrpSpPr>
        <p:grpSpPr>
          <a:xfrm rot="0">
            <a:off x="1257300" y="7500004"/>
            <a:ext cx="15773400" cy="899998"/>
            <a:chOff x="0" y="0"/>
            <a:chExt cx="21031200" cy="1199998"/>
          </a:xfrm>
        </p:grpSpPr>
        <p:sp>
          <p:nvSpPr>
            <p:cNvPr name="Freeform 58" id="58"/>
            <p:cNvSpPr/>
            <p:nvPr/>
          </p:nvSpPr>
          <p:spPr>
            <a:xfrm flipH="false" flipV="false" rot="0">
              <a:off x="0" y="0"/>
              <a:ext cx="21031200" cy="1200000"/>
            </a:xfrm>
            <a:custGeom>
              <a:avLst/>
              <a:gdLst/>
              <a:ahLst/>
              <a:cxnLst/>
              <a:rect r="r" b="b" t="t" l="l"/>
              <a:pathLst>
                <a:path h="1200000" w="21031200">
                  <a:moveTo>
                    <a:pt x="0" y="0"/>
                  </a:moveTo>
                  <a:lnTo>
                    <a:pt x="21031200" y="0"/>
                  </a:lnTo>
                  <a:lnTo>
                    <a:pt x="21031200" y="1200000"/>
                  </a:lnTo>
                  <a:lnTo>
                    <a:pt x="0" y="1200000"/>
                  </a:lnTo>
                  <a:close/>
                </a:path>
              </a:pathLst>
            </a:custGeom>
            <a:blipFill>
              <a:blip r:embed="rId2">
                <a:alphaModFix amt="0"/>
              </a:blip>
              <a:stretch>
                <a:fillRect l="0" t="-291494" r="0" b="-291494"/>
              </a:stretch>
            </a:blipFill>
          </p:spPr>
        </p:sp>
        <p:sp>
          <p:nvSpPr>
            <p:cNvPr name="TextBox 59" id="59"/>
            <p:cNvSpPr txBox="true"/>
            <p:nvPr/>
          </p:nvSpPr>
          <p:spPr>
            <a:xfrm>
              <a:off x="0" y="-38100"/>
              <a:ext cx="21031200" cy="1238098"/>
            </a:xfrm>
            <a:prstGeom prst="rect">
              <a:avLst/>
            </a:prstGeom>
          </p:spPr>
          <p:txBody>
            <a:bodyPr anchor="ctr" rtlCol="false" tIns="0" lIns="0" bIns="0" rIns="0"/>
            <a:lstStyle/>
            <a:p>
              <a:pPr algn="l">
                <a:lnSpc>
                  <a:spcPts val="2250"/>
                </a:lnSpc>
              </a:pPr>
              <a:r>
                <a:rPr lang="en-US" sz="1875" b="true">
                  <a:solidFill>
                    <a:srgbClr val="6D28D9"/>
                  </a:solidFill>
                  <a:latin typeface="Calibri (MS) Bold"/>
                  <a:ea typeface="Calibri (MS) Bold"/>
                  <a:cs typeface="Calibri (MS) Bold"/>
                  <a:sym typeface="Calibri (MS) Bold"/>
                </a:rPr>
                <a:t>Design rule: </a:t>
              </a:r>
              <a:r>
                <a:rPr lang="en-US" sz="1875">
                  <a:solidFill>
                    <a:srgbClr val="63637E"/>
                  </a:solidFill>
                  <a:latin typeface="Calibri (MS)"/>
                  <a:ea typeface="Calibri (MS)"/>
                  <a:cs typeface="Calibri (MS)"/>
                  <a:sym typeface="Calibri (MS)"/>
                </a:rPr>
                <a:t>no credentials are ever captured — the flow hands control back to the user for payment and authentication.</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Demo &amp; Product Walkthrough</a:t>
              </a:r>
            </a:p>
          </p:txBody>
        </p:sp>
      </p:grpSp>
      <p:grpSp>
        <p:nvGrpSpPr>
          <p:cNvPr name="Group 5" id="5"/>
          <p:cNvGrpSpPr/>
          <p:nvPr/>
        </p:nvGrpSpPr>
        <p:grpSpPr>
          <a:xfrm rot="0">
            <a:off x="1247775" y="2465480"/>
            <a:ext cx="2981735" cy="3469053"/>
            <a:chOff x="0" y="0"/>
            <a:chExt cx="3975646" cy="4625404"/>
          </a:xfrm>
        </p:grpSpPr>
        <p:sp>
          <p:nvSpPr>
            <p:cNvPr name="Freeform 6" id="6"/>
            <p:cNvSpPr/>
            <p:nvPr/>
          </p:nvSpPr>
          <p:spPr>
            <a:xfrm flipH="false" flipV="false" rot="0">
              <a:off x="0" y="0"/>
              <a:ext cx="3975608" cy="4625340"/>
            </a:xfrm>
            <a:custGeom>
              <a:avLst/>
              <a:gdLst/>
              <a:ahLst/>
              <a:cxnLst/>
              <a:rect r="r" b="b" t="t" l="l"/>
              <a:pathLst>
                <a:path h="4625340" w="3975608">
                  <a:moveTo>
                    <a:pt x="0" y="238506"/>
                  </a:moveTo>
                  <a:cubicBezTo>
                    <a:pt x="0" y="106807"/>
                    <a:pt x="106807" y="0"/>
                    <a:pt x="238506" y="0"/>
                  </a:cubicBezTo>
                  <a:lnTo>
                    <a:pt x="3737102" y="0"/>
                  </a:lnTo>
                  <a:cubicBezTo>
                    <a:pt x="3868801" y="0"/>
                    <a:pt x="3975608" y="106807"/>
                    <a:pt x="3975608" y="238506"/>
                  </a:cubicBezTo>
                  <a:lnTo>
                    <a:pt x="3975608" y="4386834"/>
                  </a:lnTo>
                  <a:cubicBezTo>
                    <a:pt x="3975608" y="4518533"/>
                    <a:pt x="3868801" y="4625340"/>
                    <a:pt x="3737102" y="4625340"/>
                  </a:cubicBezTo>
                  <a:lnTo>
                    <a:pt x="238506" y="4625340"/>
                  </a:lnTo>
                  <a:cubicBezTo>
                    <a:pt x="106807" y="4625340"/>
                    <a:pt x="0" y="4518660"/>
                    <a:pt x="0" y="4386834"/>
                  </a:cubicBezTo>
                  <a:close/>
                </a:path>
              </a:pathLst>
            </a:custGeom>
            <a:solidFill>
              <a:srgbClr val="FFFFFF"/>
            </a:solidFill>
            <a:ln w="19050" cap="sq">
              <a:solidFill>
                <a:srgbClr val="E1DBF3"/>
              </a:solidFill>
              <a:prstDash val="solid"/>
              <a:miter/>
            </a:ln>
          </p:spPr>
        </p:sp>
        <p:sp>
          <p:nvSpPr>
            <p:cNvPr name="TextBox 7" id="7"/>
            <p:cNvSpPr txBox="true"/>
            <p:nvPr/>
          </p:nvSpPr>
          <p:spPr>
            <a:xfrm>
              <a:off x="0" y="-47625"/>
              <a:ext cx="3975646" cy="4673029"/>
            </a:xfrm>
            <a:prstGeom prst="rect">
              <a:avLst/>
            </a:prstGeom>
          </p:spPr>
          <p:txBody>
            <a:bodyPr anchor="t" rtlCol="false" tIns="50800" lIns="50800" bIns="50800" rIns="50800"/>
            <a:lstStyle/>
            <a:p>
              <a:pPr algn="l">
                <a:lnSpc>
                  <a:spcPts val="2520"/>
                </a:lnSpc>
              </a:pPr>
              <a:r>
                <a:rPr lang="en-US" sz="2100">
                  <a:solidFill>
                    <a:srgbClr val="63637E"/>
                  </a:solidFill>
                  <a:latin typeface="Calibri (MS)"/>
                  <a:ea typeface="Calibri (MS)"/>
                  <a:cs typeface="Calibri (MS)"/>
                  <a:sym typeface="Calibri (MS)"/>
                </a:rPr>
                <a:t> </a:t>
              </a:r>
            </a:p>
            <a:p>
              <a:pPr algn="l">
                <a:lnSpc>
                  <a:spcPts val="2879"/>
                </a:lnSpc>
              </a:pPr>
              <a:r>
                <a:rPr lang="en-US" sz="2400" b="true">
                  <a:solidFill>
                    <a:srgbClr val="14142B"/>
                  </a:solidFill>
                  <a:latin typeface="Arial Bold"/>
                  <a:ea typeface="Arial Bold"/>
                  <a:cs typeface="Arial Bold"/>
                  <a:sym typeface="Arial Bold"/>
                </a:rPr>
                <a:t>Speak</a:t>
              </a:r>
            </a:p>
            <a:p>
              <a:pPr algn="l">
                <a:lnSpc>
                  <a:spcPts val="2340"/>
                </a:lnSpc>
              </a:pPr>
              <a:r>
                <a:rPr lang="en-US" sz="1950">
                  <a:solidFill>
                    <a:srgbClr val="63637E"/>
                  </a:solidFill>
                  <a:latin typeface="Calibri (MS)"/>
                  <a:ea typeface="Calibri (MS)"/>
                  <a:cs typeface="Calibri (MS)"/>
                  <a:sym typeface="Calibri (MS)"/>
                </a:rPr>
                <a:t>“Order 2 kg onions on Amazon”. Assistant has no flow yet and offers to be taught.</a:t>
              </a:r>
            </a:p>
          </p:txBody>
        </p:sp>
      </p:grpSp>
      <p:grpSp>
        <p:nvGrpSpPr>
          <p:cNvPr name="Group 8" id="8"/>
          <p:cNvGrpSpPr/>
          <p:nvPr/>
        </p:nvGrpSpPr>
        <p:grpSpPr>
          <a:xfrm rot="0">
            <a:off x="2348636" y="2174996"/>
            <a:ext cx="780002" cy="780002"/>
            <a:chOff x="0" y="0"/>
            <a:chExt cx="1040003" cy="1040003"/>
          </a:xfrm>
        </p:grpSpPr>
        <p:sp>
          <p:nvSpPr>
            <p:cNvPr name="Freeform 9" id="9"/>
            <p:cNvSpPr/>
            <p:nvPr/>
          </p:nvSpPr>
          <p:spPr>
            <a:xfrm flipH="false" flipV="false" rot="0">
              <a:off x="0" y="0"/>
              <a:ext cx="1040003" cy="1040003"/>
            </a:xfrm>
            <a:custGeom>
              <a:avLst/>
              <a:gdLst/>
              <a:ahLst/>
              <a:cxnLst/>
              <a:rect r="r" b="b" t="t" l="l"/>
              <a:pathLst>
                <a:path h="1040003" w="1040003">
                  <a:moveTo>
                    <a:pt x="0" y="519938"/>
                  </a:moveTo>
                  <a:cubicBezTo>
                    <a:pt x="0" y="232791"/>
                    <a:pt x="232791" y="0"/>
                    <a:pt x="519938" y="0"/>
                  </a:cubicBezTo>
                  <a:cubicBezTo>
                    <a:pt x="807085" y="0"/>
                    <a:pt x="1040003" y="232791"/>
                    <a:pt x="1040003" y="519938"/>
                  </a:cubicBezTo>
                  <a:cubicBezTo>
                    <a:pt x="1040003" y="807085"/>
                    <a:pt x="807212" y="1040003"/>
                    <a:pt x="519938" y="1040003"/>
                  </a:cubicBezTo>
                  <a:cubicBezTo>
                    <a:pt x="232664" y="1040003"/>
                    <a:pt x="0" y="807212"/>
                    <a:pt x="0" y="519938"/>
                  </a:cubicBezTo>
                  <a:close/>
                </a:path>
              </a:pathLst>
            </a:custGeom>
            <a:solidFill>
              <a:srgbClr val="6D28D9"/>
            </a:solidFill>
          </p:spPr>
        </p:sp>
        <p:sp>
          <p:nvSpPr>
            <p:cNvPr name="TextBox 10" id="10"/>
            <p:cNvSpPr txBox="true"/>
            <p:nvPr/>
          </p:nvSpPr>
          <p:spPr>
            <a:xfrm>
              <a:off x="0" y="-19050"/>
              <a:ext cx="1040003" cy="1059053"/>
            </a:xfrm>
            <a:prstGeom prst="rect">
              <a:avLst/>
            </a:prstGeom>
          </p:spPr>
          <p:txBody>
            <a:bodyPr anchor="ctr" rtlCol="false" tIns="50800" lIns="50800" bIns="50800" rIns="50800"/>
            <a:lstStyle/>
            <a:p>
              <a:pPr algn="ctr">
                <a:lnSpc>
                  <a:spcPts val="3240"/>
                </a:lnSpc>
              </a:pPr>
              <a:r>
                <a:rPr lang="en-US" sz="2700" b="true">
                  <a:solidFill>
                    <a:srgbClr val="FFFFFF"/>
                  </a:solidFill>
                  <a:latin typeface="Arial Bold"/>
                  <a:ea typeface="Arial Bold"/>
                  <a:cs typeface="Arial Bold"/>
                  <a:sym typeface="Arial Bold"/>
                </a:rPr>
                <a:t>1</a:t>
              </a:r>
            </a:p>
          </p:txBody>
        </p:sp>
      </p:grpSp>
      <p:grpSp>
        <p:nvGrpSpPr>
          <p:cNvPr name="Group 11" id="11"/>
          <p:cNvGrpSpPr/>
          <p:nvPr/>
        </p:nvGrpSpPr>
        <p:grpSpPr>
          <a:xfrm rot="0">
            <a:off x="4450451" y="2465480"/>
            <a:ext cx="2981735" cy="3469053"/>
            <a:chOff x="0" y="0"/>
            <a:chExt cx="3975646" cy="4625404"/>
          </a:xfrm>
        </p:grpSpPr>
        <p:sp>
          <p:nvSpPr>
            <p:cNvPr name="Freeform 12" id="12"/>
            <p:cNvSpPr/>
            <p:nvPr/>
          </p:nvSpPr>
          <p:spPr>
            <a:xfrm flipH="false" flipV="false" rot="0">
              <a:off x="0" y="0"/>
              <a:ext cx="3975608" cy="4625340"/>
            </a:xfrm>
            <a:custGeom>
              <a:avLst/>
              <a:gdLst/>
              <a:ahLst/>
              <a:cxnLst/>
              <a:rect r="r" b="b" t="t" l="l"/>
              <a:pathLst>
                <a:path h="4625340" w="3975608">
                  <a:moveTo>
                    <a:pt x="0" y="238506"/>
                  </a:moveTo>
                  <a:cubicBezTo>
                    <a:pt x="0" y="106807"/>
                    <a:pt x="106807" y="0"/>
                    <a:pt x="238506" y="0"/>
                  </a:cubicBezTo>
                  <a:lnTo>
                    <a:pt x="3737102" y="0"/>
                  </a:lnTo>
                  <a:cubicBezTo>
                    <a:pt x="3868801" y="0"/>
                    <a:pt x="3975608" y="106807"/>
                    <a:pt x="3975608" y="238506"/>
                  </a:cubicBezTo>
                  <a:lnTo>
                    <a:pt x="3975608" y="4386834"/>
                  </a:lnTo>
                  <a:cubicBezTo>
                    <a:pt x="3975608" y="4518533"/>
                    <a:pt x="3868801" y="4625340"/>
                    <a:pt x="3737102" y="4625340"/>
                  </a:cubicBezTo>
                  <a:lnTo>
                    <a:pt x="238506" y="4625340"/>
                  </a:lnTo>
                  <a:cubicBezTo>
                    <a:pt x="106807" y="4625340"/>
                    <a:pt x="0" y="4518660"/>
                    <a:pt x="0" y="4386834"/>
                  </a:cubicBezTo>
                  <a:close/>
                </a:path>
              </a:pathLst>
            </a:custGeom>
            <a:solidFill>
              <a:srgbClr val="FFFFFF"/>
            </a:solidFill>
            <a:ln w="19050" cap="sq">
              <a:solidFill>
                <a:srgbClr val="E1DBF3"/>
              </a:solidFill>
              <a:prstDash val="solid"/>
              <a:miter/>
            </a:ln>
          </p:spPr>
        </p:sp>
        <p:sp>
          <p:nvSpPr>
            <p:cNvPr name="TextBox 13" id="13"/>
            <p:cNvSpPr txBox="true"/>
            <p:nvPr/>
          </p:nvSpPr>
          <p:spPr>
            <a:xfrm>
              <a:off x="0" y="-47625"/>
              <a:ext cx="3975646" cy="4673029"/>
            </a:xfrm>
            <a:prstGeom prst="rect">
              <a:avLst/>
            </a:prstGeom>
          </p:spPr>
          <p:txBody>
            <a:bodyPr anchor="t" rtlCol="false" tIns="50800" lIns="50800" bIns="50800" rIns="50800"/>
            <a:lstStyle/>
            <a:p>
              <a:pPr algn="l">
                <a:lnSpc>
                  <a:spcPts val="2520"/>
                </a:lnSpc>
              </a:pPr>
              <a:r>
                <a:rPr lang="en-US" sz="2100">
                  <a:solidFill>
                    <a:srgbClr val="63637E"/>
                  </a:solidFill>
                  <a:latin typeface="Calibri (MS)"/>
                  <a:ea typeface="Calibri (MS)"/>
                  <a:cs typeface="Calibri (MS)"/>
                  <a:sym typeface="Calibri (MS)"/>
                </a:rPr>
                <a:t> </a:t>
              </a:r>
            </a:p>
            <a:p>
              <a:pPr algn="l">
                <a:lnSpc>
                  <a:spcPts val="2879"/>
                </a:lnSpc>
              </a:pPr>
              <a:r>
                <a:rPr lang="en-US" sz="2400" b="true">
                  <a:solidFill>
                    <a:srgbClr val="14142B"/>
                  </a:solidFill>
                  <a:latin typeface="Arial Bold"/>
                  <a:ea typeface="Arial Bold"/>
                  <a:cs typeface="Arial Bold"/>
                  <a:sym typeface="Arial Bold"/>
                </a:rPr>
                <a:t>Teach</a:t>
              </a:r>
            </a:p>
            <a:p>
              <a:pPr algn="l">
                <a:lnSpc>
                  <a:spcPts val="2340"/>
                </a:lnSpc>
              </a:pPr>
              <a:r>
                <a:rPr lang="en-US" sz="1950">
                  <a:solidFill>
                    <a:srgbClr val="63637E"/>
                  </a:solidFill>
                  <a:latin typeface="Calibri (MS)"/>
                  <a:ea typeface="Calibri (MS)"/>
                  <a:cs typeface="Calibri (MS)"/>
                  <a:sym typeface="Calibri (MS)"/>
                </a:rPr>
                <a:t>User performs the task once: search, select item, set quantity, add to cart.</a:t>
              </a:r>
            </a:p>
          </p:txBody>
        </p:sp>
      </p:grpSp>
      <p:grpSp>
        <p:nvGrpSpPr>
          <p:cNvPr name="Group 14" id="14"/>
          <p:cNvGrpSpPr/>
          <p:nvPr/>
        </p:nvGrpSpPr>
        <p:grpSpPr>
          <a:xfrm rot="0">
            <a:off x="5551322" y="2174996"/>
            <a:ext cx="780002" cy="780002"/>
            <a:chOff x="0" y="0"/>
            <a:chExt cx="1040003" cy="1040003"/>
          </a:xfrm>
        </p:grpSpPr>
        <p:sp>
          <p:nvSpPr>
            <p:cNvPr name="Freeform 15" id="15"/>
            <p:cNvSpPr/>
            <p:nvPr/>
          </p:nvSpPr>
          <p:spPr>
            <a:xfrm flipH="false" flipV="false" rot="0">
              <a:off x="0" y="0"/>
              <a:ext cx="1040003" cy="1040003"/>
            </a:xfrm>
            <a:custGeom>
              <a:avLst/>
              <a:gdLst/>
              <a:ahLst/>
              <a:cxnLst/>
              <a:rect r="r" b="b" t="t" l="l"/>
              <a:pathLst>
                <a:path h="1040003" w="1040003">
                  <a:moveTo>
                    <a:pt x="0" y="519938"/>
                  </a:moveTo>
                  <a:cubicBezTo>
                    <a:pt x="0" y="232791"/>
                    <a:pt x="232791" y="0"/>
                    <a:pt x="519938" y="0"/>
                  </a:cubicBezTo>
                  <a:cubicBezTo>
                    <a:pt x="807085" y="0"/>
                    <a:pt x="1040003" y="232791"/>
                    <a:pt x="1040003" y="519938"/>
                  </a:cubicBezTo>
                  <a:cubicBezTo>
                    <a:pt x="1040003" y="807085"/>
                    <a:pt x="807212" y="1040003"/>
                    <a:pt x="519938" y="1040003"/>
                  </a:cubicBezTo>
                  <a:cubicBezTo>
                    <a:pt x="232664" y="1040003"/>
                    <a:pt x="0" y="807212"/>
                    <a:pt x="0" y="519938"/>
                  </a:cubicBezTo>
                  <a:close/>
                </a:path>
              </a:pathLst>
            </a:custGeom>
            <a:solidFill>
              <a:srgbClr val="6D28D9"/>
            </a:solidFill>
          </p:spPr>
        </p:sp>
        <p:sp>
          <p:nvSpPr>
            <p:cNvPr name="TextBox 16" id="16"/>
            <p:cNvSpPr txBox="true"/>
            <p:nvPr/>
          </p:nvSpPr>
          <p:spPr>
            <a:xfrm>
              <a:off x="0" y="-19050"/>
              <a:ext cx="1040003" cy="1059053"/>
            </a:xfrm>
            <a:prstGeom prst="rect">
              <a:avLst/>
            </a:prstGeom>
          </p:spPr>
          <p:txBody>
            <a:bodyPr anchor="ctr" rtlCol="false" tIns="50800" lIns="50800" bIns="50800" rIns="50800"/>
            <a:lstStyle/>
            <a:p>
              <a:pPr algn="ctr">
                <a:lnSpc>
                  <a:spcPts val="3240"/>
                </a:lnSpc>
              </a:pPr>
              <a:r>
                <a:rPr lang="en-US" sz="2700" b="true">
                  <a:solidFill>
                    <a:srgbClr val="FFFFFF"/>
                  </a:solidFill>
                  <a:latin typeface="Arial Bold"/>
                  <a:ea typeface="Arial Bold"/>
                  <a:cs typeface="Arial Bold"/>
                  <a:sym typeface="Arial Bold"/>
                </a:rPr>
                <a:t>2</a:t>
              </a:r>
            </a:p>
          </p:txBody>
        </p:sp>
      </p:grpSp>
      <p:grpSp>
        <p:nvGrpSpPr>
          <p:cNvPr name="Group 17" id="17"/>
          <p:cNvGrpSpPr/>
          <p:nvPr/>
        </p:nvGrpSpPr>
        <p:grpSpPr>
          <a:xfrm rot="0">
            <a:off x="7653137" y="2465480"/>
            <a:ext cx="2981735" cy="3469053"/>
            <a:chOff x="0" y="0"/>
            <a:chExt cx="3975646" cy="4625404"/>
          </a:xfrm>
        </p:grpSpPr>
        <p:sp>
          <p:nvSpPr>
            <p:cNvPr name="Freeform 18" id="18"/>
            <p:cNvSpPr/>
            <p:nvPr/>
          </p:nvSpPr>
          <p:spPr>
            <a:xfrm flipH="false" flipV="false" rot="0">
              <a:off x="0" y="0"/>
              <a:ext cx="3975608" cy="4625340"/>
            </a:xfrm>
            <a:custGeom>
              <a:avLst/>
              <a:gdLst/>
              <a:ahLst/>
              <a:cxnLst/>
              <a:rect r="r" b="b" t="t" l="l"/>
              <a:pathLst>
                <a:path h="4625340" w="3975608">
                  <a:moveTo>
                    <a:pt x="0" y="238506"/>
                  </a:moveTo>
                  <a:cubicBezTo>
                    <a:pt x="0" y="106807"/>
                    <a:pt x="106807" y="0"/>
                    <a:pt x="238506" y="0"/>
                  </a:cubicBezTo>
                  <a:lnTo>
                    <a:pt x="3737102" y="0"/>
                  </a:lnTo>
                  <a:cubicBezTo>
                    <a:pt x="3868801" y="0"/>
                    <a:pt x="3975608" y="106807"/>
                    <a:pt x="3975608" y="238506"/>
                  </a:cubicBezTo>
                  <a:lnTo>
                    <a:pt x="3975608" y="4386834"/>
                  </a:lnTo>
                  <a:cubicBezTo>
                    <a:pt x="3975608" y="4518533"/>
                    <a:pt x="3868801" y="4625340"/>
                    <a:pt x="3737102" y="4625340"/>
                  </a:cubicBezTo>
                  <a:lnTo>
                    <a:pt x="238506" y="4625340"/>
                  </a:lnTo>
                  <a:cubicBezTo>
                    <a:pt x="106807" y="4625340"/>
                    <a:pt x="0" y="4518660"/>
                    <a:pt x="0" y="4386834"/>
                  </a:cubicBezTo>
                  <a:close/>
                </a:path>
              </a:pathLst>
            </a:custGeom>
            <a:solidFill>
              <a:srgbClr val="FFFFFF"/>
            </a:solidFill>
            <a:ln w="19050" cap="sq">
              <a:solidFill>
                <a:srgbClr val="E1DBF3"/>
              </a:solidFill>
              <a:prstDash val="solid"/>
              <a:miter/>
            </a:ln>
          </p:spPr>
        </p:sp>
        <p:sp>
          <p:nvSpPr>
            <p:cNvPr name="TextBox 19" id="19"/>
            <p:cNvSpPr txBox="true"/>
            <p:nvPr/>
          </p:nvSpPr>
          <p:spPr>
            <a:xfrm>
              <a:off x="0" y="-47625"/>
              <a:ext cx="3975646" cy="4673029"/>
            </a:xfrm>
            <a:prstGeom prst="rect">
              <a:avLst/>
            </a:prstGeom>
          </p:spPr>
          <p:txBody>
            <a:bodyPr anchor="t" rtlCol="false" tIns="50800" lIns="50800" bIns="50800" rIns="50800"/>
            <a:lstStyle/>
            <a:p>
              <a:pPr algn="l">
                <a:lnSpc>
                  <a:spcPts val="2520"/>
                </a:lnSpc>
              </a:pPr>
              <a:r>
                <a:rPr lang="en-US" sz="2100">
                  <a:solidFill>
                    <a:srgbClr val="63637E"/>
                  </a:solidFill>
                  <a:latin typeface="Calibri (MS)"/>
                  <a:ea typeface="Calibri (MS)"/>
                  <a:cs typeface="Calibri (MS)"/>
                  <a:sym typeface="Calibri (MS)"/>
                </a:rPr>
                <a:t> </a:t>
              </a:r>
            </a:p>
            <a:p>
              <a:pPr algn="l">
                <a:lnSpc>
                  <a:spcPts val="2879"/>
                </a:lnSpc>
              </a:pPr>
              <a:r>
                <a:rPr lang="en-US" sz="2400" b="true">
                  <a:solidFill>
                    <a:srgbClr val="14142B"/>
                  </a:solidFill>
                  <a:latin typeface="Arial Bold"/>
                  <a:ea typeface="Arial Bold"/>
                  <a:cs typeface="Arial Bold"/>
                  <a:sym typeface="Arial Bold"/>
                </a:rPr>
                <a:t>Learn</a:t>
              </a:r>
            </a:p>
            <a:p>
              <a:pPr algn="l">
                <a:lnSpc>
                  <a:spcPts val="2340"/>
                </a:lnSpc>
              </a:pPr>
              <a:r>
                <a:rPr lang="en-US" sz="1950">
                  <a:solidFill>
                    <a:srgbClr val="63637E"/>
                  </a:solidFill>
                  <a:latin typeface="Calibri (MS)"/>
                  <a:ea typeface="Calibri (MS)"/>
                  <a:cs typeface="Calibri (MS)"/>
                  <a:sym typeface="Calibri (MS)"/>
                </a:rPr>
                <a:t>Recording becomes a reusable flow; “onions” and “2 kg” become slots.</a:t>
              </a:r>
            </a:p>
          </p:txBody>
        </p:sp>
      </p:grpSp>
      <p:grpSp>
        <p:nvGrpSpPr>
          <p:cNvPr name="Group 20" id="20"/>
          <p:cNvGrpSpPr/>
          <p:nvPr/>
        </p:nvGrpSpPr>
        <p:grpSpPr>
          <a:xfrm rot="0">
            <a:off x="8753999" y="2174996"/>
            <a:ext cx="780002" cy="780002"/>
            <a:chOff x="0" y="0"/>
            <a:chExt cx="1040003" cy="1040003"/>
          </a:xfrm>
        </p:grpSpPr>
        <p:sp>
          <p:nvSpPr>
            <p:cNvPr name="Freeform 21" id="21"/>
            <p:cNvSpPr/>
            <p:nvPr/>
          </p:nvSpPr>
          <p:spPr>
            <a:xfrm flipH="false" flipV="false" rot="0">
              <a:off x="0" y="0"/>
              <a:ext cx="1040003" cy="1040003"/>
            </a:xfrm>
            <a:custGeom>
              <a:avLst/>
              <a:gdLst/>
              <a:ahLst/>
              <a:cxnLst/>
              <a:rect r="r" b="b" t="t" l="l"/>
              <a:pathLst>
                <a:path h="1040003" w="1040003">
                  <a:moveTo>
                    <a:pt x="0" y="519938"/>
                  </a:moveTo>
                  <a:cubicBezTo>
                    <a:pt x="0" y="232791"/>
                    <a:pt x="232791" y="0"/>
                    <a:pt x="519938" y="0"/>
                  </a:cubicBezTo>
                  <a:cubicBezTo>
                    <a:pt x="807085" y="0"/>
                    <a:pt x="1040003" y="232791"/>
                    <a:pt x="1040003" y="519938"/>
                  </a:cubicBezTo>
                  <a:cubicBezTo>
                    <a:pt x="1040003" y="807085"/>
                    <a:pt x="807212" y="1040003"/>
                    <a:pt x="519938" y="1040003"/>
                  </a:cubicBezTo>
                  <a:cubicBezTo>
                    <a:pt x="232664" y="1040003"/>
                    <a:pt x="0" y="807212"/>
                    <a:pt x="0" y="519938"/>
                  </a:cubicBezTo>
                  <a:close/>
                </a:path>
              </a:pathLst>
            </a:custGeom>
            <a:solidFill>
              <a:srgbClr val="6D28D9"/>
            </a:solidFill>
          </p:spPr>
        </p:sp>
        <p:sp>
          <p:nvSpPr>
            <p:cNvPr name="TextBox 22" id="22"/>
            <p:cNvSpPr txBox="true"/>
            <p:nvPr/>
          </p:nvSpPr>
          <p:spPr>
            <a:xfrm>
              <a:off x="0" y="-19050"/>
              <a:ext cx="1040003" cy="1059053"/>
            </a:xfrm>
            <a:prstGeom prst="rect">
              <a:avLst/>
            </a:prstGeom>
          </p:spPr>
          <p:txBody>
            <a:bodyPr anchor="ctr" rtlCol="false" tIns="50800" lIns="50800" bIns="50800" rIns="50800"/>
            <a:lstStyle/>
            <a:p>
              <a:pPr algn="ctr">
                <a:lnSpc>
                  <a:spcPts val="3240"/>
                </a:lnSpc>
              </a:pPr>
              <a:r>
                <a:rPr lang="en-US" sz="2700" b="true">
                  <a:solidFill>
                    <a:srgbClr val="FFFFFF"/>
                  </a:solidFill>
                  <a:latin typeface="Arial Bold"/>
                  <a:ea typeface="Arial Bold"/>
                  <a:cs typeface="Arial Bold"/>
                  <a:sym typeface="Arial Bold"/>
                </a:rPr>
                <a:t>3</a:t>
              </a:r>
            </a:p>
          </p:txBody>
        </p:sp>
      </p:grpSp>
      <p:grpSp>
        <p:nvGrpSpPr>
          <p:cNvPr name="Group 23" id="23"/>
          <p:cNvGrpSpPr/>
          <p:nvPr/>
        </p:nvGrpSpPr>
        <p:grpSpPr>
          <a:xfrm rot="0">
            <a:off x="10855814" y="2465480"/>
            <a:ext cx="2981735" cy="3469053"/>
            <a:chOff x="0" y="0"/>
            <a:chExt cx="3975646" cy="4625404"/>
          </a:xfrm>
        </p:grpSpPr>
        <p:sp>
          <p:nvSpPr>
            <p:cNvPr name="Freeform 24" id="24"/>
            <p:cNvSpPr/>
            <p:nvPr/>
          </p:nvSpPr>
          <p:spPr>
            <a:xfrm flipH="false" flipV="false" rot="0">
              <a:off x="0" y="0"/>
              <a:ext cx="3975608" cy="4625340"/>
            </a:xfrm>
            <a:custGeom>
              <a:avLst/>
              <a:gdLst/>
              <a:ahLst/>
              <a:cxnLst/>
              <a:rect r="r" b="b" t="t" l="l"/>
              <a:pathLst>
                <a:path h="4625340" w="3975608">
                  <a:moveTo>
                    <a:pt x="0" y="238506"/>
                  </a:moveTo>
                  <a:cubicBezTo>
                    <a:pt x="0" y="106807"/>
                    <a:pt x="106807" y="0"/>
                    <a:pt x="238506" y="0"/>
                  </a:cubicBezTo>
                  <a:lnTo>
                    <a:pt x="3737102" y="0"/>
                  </a:lnTo>
                  <a:cubicBezTo>
                    <a:pt x="3868801" y="0"/>
                    <a:pt x="3975608" y="106807"/>
                    <a:pt x="3975608" y="238506"/>
                  </a:cubicBezTo>
                  <a:lnTo>
                    <a:pt x="3975608" y="4386834"/>
                  </a:lnTo>
                  <a:cubicBezTo>
                    <a:pt x="3975608" y="4518533"/>
                    <a:pt x="3868801" y="4625340"/>
                    <a:pt x="3737102" y="4625340"/>
                  </a:cubicBezTo>
                  <a:lnTo>
                    <a:pt x="238506" y="4625340"/>
                  </a:lnTo>
                  <a:cubicBezTo>
                    <a:pt x="106807" y="4625340"/>
                    <a:pt x="0" y="4518660"/>
                    <a:pt x="0" y="4386834"/>
                  </a:cubicBezTo>
                  <a:close/>
                </a:path>
              </a:pathLst>
            </a:custGeom>
            <a:solidFill>
              <a:srgbClr val="FFFFFF"/>
            </a:solidFill>
            <a:ln w="19050" cap="sq">
              <a:solidFill>
                <a:srgbClr val="E1DBF3"/>
              </a:solidFill>
              <a:prstDash val="solid"/>
              <a:miter/>
            </a:ln>
          </p:spPr>
        </p:sp>
        <p:sp>
          <p:nvSpPr>
            <p:cNvPr name="TextBox 25" id="25"/>
            <p:cNvSpPr txBox="true"/>
            <p:nvPr/>
          </p:nvSpPr>
          <p:spPr>
            <a:xfrm>
              <a:off x="0" y="-47625"/>
              <a:ext cx="3975646" cy="4673029"/>
            </a:xfrm>
            <a:prstGeom prst="rect">
              <a:avLst/>
            </a:prstGeom>
          </p:spPr>
          <p:txBody>
            <a:bodyPr anchor="t" rtlCol="false" tIns="50800" lIns="50800" bIns="50800" rIns="50800"/>
            <a:lstStyle/>
            <a:p>
              <a:pPr algn="l">
                <a:lnSpc>
                  <a:spcPts val="2520"/>
                </a:lnSpc>
              </a:pPr>
              <a:r>
                <a:rPr lang="en-US" sz="2100">
                  <a:solidFill>
                    <a:srgbClr val="63637E"/>
                  </a:solidFill>
                  <a:latin typeface="Calibri (MS)"/>
                  <a:ea typeface="Calibri (MS)"/>
                  <a:cs typeface="Calibri (MS)"/>
                  <a:sym typeface="Calibri (MS)"/>
                </a:rPr>
                <a:t> </a:t>
              </a:r>
            </a:p>
            <a:p>
              <a:pPr algn="l">
                <a:lnSpc>
                  <a:spcPts val="2879"/>
                </a:lnSpc>
              </a:pPr>
              <a:r>
                <a:rPr lang="en-US" sz="2400" b="true">
                  <a:solidFill>
                    <a:srgbClr val="14142B"/>
                  </a:solidFill>
                  <a:latin typeface="Arial Bold"/>
                  <a:ea typeface="Arial Bold"/>
                  <a:cs typeface="Arial Bold"/>
                  <a:sym typeface="Arial Bold"/>
                </a:rPr>
                <a:t>Reuse</a:t>
              </a:r>
            </a:p>
            <a:p>
              <a:pPr algn="l">
                <a:lnSpc>
                  <a:spcPts val="2340"/>
                </a:lnSpc>
              </a:pPr>
              <a:r>
                <a:rPr lang="en-US" sz="1950">
                  <a:solidFill>
                    <a:srgbClr val="63637E"/>
                  </a:solidFill>
                  <a:latin typeface="Calibri (MS)"/>
                  <a:ea typeface="Calibri (MS)"/>
                  <a:cs typeface="Calibri (MS)"/>
                  <a:sym typeface="Calibri (MS)"/>
                </a:rPr>
                <a:t>Later: “Get me 5 kg rice” — paraphrase and new values match the learnt flow.</a:t>
              </a:r>
            </a:p>
          </p:txBody>
        </p:sp>
      </p:grpSp>
      <p:grpSp>
        <p:nvGrpSpPr>
          <p:cNvPr name="Group 26" id="26"/>
          <p:cNvGrpSpPr/>
          <p:nvPr/>
        </p:nvGrpSpPr>
        <p:grpSpPr>
          <a:xfrm rot="0">
            <a:off x="11956675" y="2174996"/>
            <a:ext cx="780002" cy="780002"/>
            <a:chOff x="0" y="0"/>
            <a:chExt cx="1040003" cy="1040003"/>
          </a:xfrm>
        </p:grpSpPr>
        <p:sp>
          <p:nvSpPr>
            <p:cNvPr name="Freeform 27" id="27"/>
            <p:cNvSpPr/>
            <p:nvPr/>
          </p:nvSpPr>
          <p:spPr>
            <a:xfrm flipH="false" flipV="false" rot="0">
              <a:off x="0" y="0"/>
              <a:ext cx="1040003" cy="1040003"/>
            </a:xfrm>
            <a:custGeom>
              <a:avLst/>
              <a:gdLst/>
              <a:ahLst/>
              <a:cxnLst/>
              <a:rect r="r" b="b" t="t" l="l"/>
              <a:pathLst>
                <a:path h="1040003" w="1040003">
                  <a:moveTo>
                    <a:pt x="0" y="519938"/>
                  </a:moveTo>
                  <a:cubicBezTo>
                    <a:pt x="0" y="232791"/>
                    <a:pt x="232791" y="0"/>
                    <a:pt x="519938" y="0"/>
                  </a:cubicBezTo>
                  <a:cubicBezTo>
                    <a:pt x="807085" y="0"/>
                    <a:pt x="1040003" y="232791"/>
                    <a:pt x="1040003" y="519938"/>
                  </a:cubicBezTo>
                  <a:cubicBezTo>
                    <a:pt x="1040003" y="807085"/>
                    <a:pt x="807212" y="1040003"/>
                    <a:pt x="519938" y="1040003"/>
                  </a:cubicBezTo>
                  <a:cubicBezTo>
                    <a:pt x="232664" y="1040003"/>
                    <a:pt x="0" y="807212"/>
                    <a:pt x="0" y="519938"/>
                  </a:cubicBezTo>
                  <a:close/>
                </a:path>
              </a:pathLst>
            </a:custGeom>
            <a:solidFill>
              <a:srgbClr val="6D28D9"/>
            </a:solidFill>
          </p:spPr>
        </p:sp>
        <p:sp>
          <p:nvSpPr>
            <p:cNvPr name="TextBox 28" id="28"/>
            <p:cNvSpPr txBox="true"/>
            <p:nvPr/>
          </p:nvSpPr>
          <p:spPr>
            <a:xfrm>
              <a:off x="0" y="-19050"/>
              <a:ext cx="1040003" cy="1059053"/>
            </a:xfrm>
            <a:prstGeom prst="rect">
              <a:avLst/>
            </a:prstGeom>
          </p:spPr>
          <p:txBody>
            <a:bodyPr anchor="ctr" rtlCol="false" tIns="50800" lIns="50800" bIns="50800" rIns="50800"/>
            <a:lstStyle/>
            <a:p>
              <a:pPr algn="ctr">
                <a:lnSpc>
                  <a:spcPts val="3240"/>
                </a:lnSpc>
              </a:pPr>
              <a:r>
                <a:rPr lang="en-US" sz="2700" b="true">
                  <a:solidFill>
                    <a:srgbClr val="FFFFFF"/>
                  </a:solidFill>
                  <a:latin typeface="Arial Bold"/>
                  <a:ea typeface="Arial Bold"/>
                  <a:cs typeface="Arial Bold"/>
                  <a:sym typeface="Arial Bold"/>
                </a:rPr>
                <a:t>4</a:t>
              </a:r>
            </a:p>
          </p:txBody>
        </p:sp>
      </p:grpSp>
      <p:grpSp>
        <p:nvGrpSpPr>
          <p:cNvPr name="Group 29" id="29"/>
          <p:cNvGrpSpPr/>
          <p:nvPr/>
        </p:nvGrpSpPr>
        <p:grpSpPr>
          <a:xfrm rot="0">
            <a:off x="14058490" y="2465480"/>
            <a:ext cx="2981735" cy="3469053"/>
            <a:chOff x="0" y="0"/>
            <a:chExt cx="3975646" cy="4625404"/>
          </a:xfrm>
        </p:grpSpPr>
        <p:sp>
          <p:nvSpPr>
            <p:cNvPr name="Freeform 30" id="30"/>
            <p:cNvSpPr/>
            <p:nvPr/>
          </p:nvSpPr>
          <p:spPr>
            <a:xfrm flipH="false" flipV="false" rot="0">
              <a:off x="0" y="0"/>
              <a:ext cx="3975608" cy="4625340"/>
            </a:xfrm>
            <a:custGeom>
              <a:avLst/>
              <a:gdLst/>
              <a:ahLst/>
              <a:cxnLst/>
              <a:rect r="r" b="b" t="t" l="l"/>
              <a:pathLst>
                <a:path h="4625340" w="3975608">
                  <a:moveTo>
                    <a:pt x="0" y="238506"/>
                  </a:moveTo>
                  <a:cubicBezTo>
                    <a:pt x="0" y="106807"/>
                    <a:pt x="106807" y="0"/>
                    <a:pt x="238506" y="0"/>
                  </a:cubicBezTo>
                  <a:lnTo>
                    <a:pt x="3737102" y="0"/>
                  </a:lnTo>
                  <a:cubicBezTo>
                    <a:pt x="3868801" y="0"/>
                    <a:pt x="3975608" y="106807"/>
                    <a:pt x="3975608" y="238506"/>
                  </a:cubicBezTo>
                  <a:lnTo>
                    <a:pt x="3975608" y="4386834"/>
                  </a:lnTo>
                  <a:cubicBezTo>
                    <a:pt x="3975608" y="4518533"/>
                    <a:pt x="3868801" y="4625340"/>
                    <a:pt x="3737102" y="4625340"/>
                  </a:cubicBezTo>
                  <a:lnTo>
                    <a:pt x="238506" y="4625340"/>
                  </a:lnTo>
                  <a:cubicBezTo>
                    <a:pt x="106807" y="4625340"/>
                    <a:pt x="0" y="4518660"/>
                    <a:pt x="0" y="4386834"/>
                  </a:cubicBezTo>
                  <a:close/>
                </a:path>
              </a:pathLst>
            </a:custGeom>
            <a:solidFill>
              <a:srgbClr val="FFFFFF"/>
            </a:solidFill>
            <a:ln w="19050" cap="sq">
              <a:solidFill>
                <a:srgbClr val="E1DBF3"/>
              </a:solidFill>
              <a:prstDash val="solid"/>
              <a:miter/>
            </a:ln>
          </p:spPr>
        </p:sp>
        <p:sp>
          <p:nvSpPr>
            <p:cNvPr name="TextBox 31" id="31"/>
            <p:cNvSpPr txBox="true"/>
            <p:nvPr/>
          </p:nvSpPr>
          <p:spPr>
            <a:xfrm>
              <a:off x="0" y="-47625"/>
              <a:ext cx="3975646" cy="4673029"/>
            </a:xfrm>
            <a:prstGeom prst="rect">
              <a:avLst/>
            </a:prstGeom>
          </p:spPr>
          <p:txBody>
            <a:bodyPr anchor="t" rtlCol="false" tIns="50800" lIns="50800" bIns="50800" rIns="50800"/>
            <a:lstStyle/>
            <a:p>
              <a:pPr algn="l">
                <a:lnSpc>
                  <a:spcPts val="2520"/>
                </a:lnSpc>
              </a:pPr>
              <a:r>
                <a:rPr lang="en-US" sz="2100">
                  <a:solidFill>
                    <a:srgbClr val="63637E"/>
                  </a:solidFill>
                  <a:latin typeface="Calibri (MS)"/>
                  <a:ea typeface="Calibri (MS)"/>
                  <a:cs typeface="Calibri (MS)"/>
                  <a:sym typeface="Calibri (MS)"/>
                </a:rPr>
                <a:t> </a:t>
              </a:r>
            </a:p>
            <a:p>
              <a:pPr algn="l">
                <a:lnSpc>
                  <a:spcPts val="2879"/>
                </a:lnSpc>
              </a:pPr>
              <a:r>
                <a:rPr lang="en-US" sz="2400" b="true">
                  <a:solidFill>
                    <a:srgbClr val="14142B"/>
                  </a:solidFill>
                  <a:latin typeface="Arial Bold"/>
                  <a:ea typeface="Arial Bold"/>
                  <a:cs typeface="Arial Bold"/>
                  <a:sym typeface="Arial Bold"/>
                </a:rPr>
                <a:t>Replay</a:t>
              </a:r>
            </a:p>
            <a:p>
              <a:pPr algn="l">
                <a:lnSpc>
                  <a:spcPts val="2340"/>
                </a:lnSpc>
              </a:pPr>
              <a:r>
                <a:rPr lang="en-US" sz="1950">
                  <a:solidFill>
                    <a:srgbClr val="63637E"/>
                  </a:solidFill>
                  <a:latin typeface="Calibri (MS)"/>
                  <a:ea typeface="Calibri (MS)"/>
                  <a:cs typeface="Calibri (MS)"/>
                  <a:sym typeface="Calibri (MS)"/>
                </a:rPr>
                <a:t>Runs the flow, adapts to screen changes, stops at payment for the user.</a:t>
              </a:r>
            </a:p>
          </p:txBody>
        </p:sp>
      </p:grpSp>
      <p:grpSp>
        <p:nvGrpSpPr>
          <p:cNvPr name="Group 32" id="32"/>
          <p:cNvGrpSpPr/>
          <p:nvPr/>
        </p:nvGrpSpPr>
        <p:grpSpPr>
          <a:xfrm rot="0">
            <a:off x="15159361" y="2174996"/>
            <a:ext cx="780002" cy="780002"/>
            <a:chOff x="0" y="0"/>
            <a:chExt cx="1040003" cy="1040003"/>
          </a:xfrm>
        </p:grpSpPr>
        <p:sp>
          <p:nvSpPr>
            <p:cNvPr name="Freeform 33" id="33"/>
            <p:cNvSpPr/>
            <p:nvPr/>
          </p:nvSpPr>
          <p:spPr>
            <a:xfrm flipH="false" flipV="false" rot="0">
              <a:off x="0" y="0"/>
              <a:ext cx="1040003" cy="1040003"/>
            </a:xfrm>
            <a:custGeom>
              <a:avLst/>
              <a:gdLst/>
              <a:ahLst/>
              <a:cxnLst/>
              <a:rect r="r" b="b" t="t" l="l"/>
              <a:pathLst>
                <a:path h="1040003" w="1040003">
                  <a:moveTo>
                    <a:pt x="0" y="519938"/>
                  </a:moveTo>
                  <a:cubicBezTo>
                    <a:pt x="0" y="232791"/>
                    <a:pt x="232791" y="0"/>
                    <a:pt x="519938" y="0"/>
                  </a:cubicBezTo>
                  <a:cubicBezTo>
                    <a:pt x="807085" y="0"/>
                    <a:pt x="1040003" y="232791"/>
                    <a:pt x="1040003" y="519938"/>
                  </a:cubicBezTo>
                  <a:cubicBezTo>
                    <a:pt x="1040003" y="807085"/>
                    <a:pt x="807212" y="1040003"/>
                    <a:pt x="519938" y="1040003"/>
                  </a:cubicBezTo>
                  <a:cubicBezTo>
                    <a:pt x="232664" y="1040003"/>
                    <a:pt x="0" y="807212"/>
                    <a:pt x="0" y="519938"/>
                  </a:cubicBezTo>
                  <a:close/>
                </a:path>
              </a:pathLst>
            </a:custGeom>
            <a:solidFill>
              <a:srgbClr val="6D28D9"/>
            </a:solidFill>
          </p:spPr>
        </p:sp>
        <p:sp>
          <p:nvSpPr>
            <p:cNvPr name="TextBox 34" id="34"/>
            <p:cNvSpPr txBox="true"/>
            <p:nvPr/>
          </p:nvSpPr>
          <p:spPr>
            <a:xfrm>
              <a:off x="0" y="-19050"/>
              <a:ext cx="1040003" cy="1059053"/>
            </a:xfrm>
            <a:prstGeom prst="rect">
              <a:avLst/>
            </a:prstGeom>
          </p:spPr>
          <p:txBody>
            <a:bodyPr anchor="ctr" rtlCol="false" tIns="50800" lIns="50800" bIns="50800" rIns="50800"/>
            <a:lstStyle/>
            <a:p>
              <a:pPr algn="ctr">
                <a:lnSpc>
                  <a:spcPts val="3240"/>
                </a:lnSpc>
              </a:pPr>
              <a:r>
                <a:rPr lang="en-US" sz="2700" b="true">
                  <a:solidFill>
                    <a:srgbClr val="FFFFFF"/>
                  </a:solidFill>
                  <a:latin typeface="Arial Bold"/>
                  <a:ea typeface="Arial Bold"/>
                  <a:cs typeface="Arial Bold"/>
                  <a:sym typeface="Arial Bold"/>
                </a:rPr>
                <a:t>5</a:t>
              </a:r>
            </a:p>
          </p:txBody>
        </p:sp>
      </p:grpSp>
      <p:grpSp>
        <p:nvGrpSpPr>
          <p:cNvPr name="Group 35" id="35"/>
          <p:cNvGrpSpPr/>
          <p:nvPr/>
        </p:nvGrpSpPr>
        <p:grpSpPr>
          <a:xfrm rot="0">
            <a:off x="1257300" y="6374997"/>
            <a:ext cx="15773400" cy="1350000"/>
            <a:chOff x="0" y="0"/>
            <a:chExt cx="21031200" cy="1800000"/>
          </a:xfrm>
        </p:grpSpPr>
        <p:sp>
          <p:nvSpPr>
            <p:cNvPr name="Freeform 36" id="36"/>
            <p:cNvSpPr/>
            <p:nvPr/>
          </p:nvSpPr>
          <p:spPr>
            <a:xfrm flipH="false" flipV="false" rot="0">
              <a:off x="0" y="0"/>
              <a:ext cx="21031200" cy="1799975"/>
            </a:xfrm>
            <a:custGeom>
              <a:avLst/>
              <a:gdLst/>
              <a:ahLst/>
              <a:cxnLst/>
              <a:rect r="r" b="b" t="t" l="l"/>
              <a:pathLst>
                <a:path h="1799975" w="21031200">
                  <a:moveTo>
                    <a:pt x="0" y="107950"/>
                  </a:moveTo>
                  <a:cubicBezTo>
                    <a:pt x="0" y="48387"/>
                    <a:pt x="48387" y="0"/>
                    <a:pt x="107950" y="0"/>
                  </a:cubicBezTo>
                  <a:lnTo>
                    <a:pt x="20923250" y="0"/>
                  </a:lnTo>
                  <a:cubicBezTo>
                    <a:pt x="20982939" y="0"/>
                    <a:pt x="21031200" y="48387"/>
                    <a:pt x="21031200" y="107950"/>
                  </a:cubicBezTo>
                  <a:lnTo>
                    <a:pt x="21031200" y="1692024"/>
                  </a:lnTo>
                  <a:cubicBezTo>
                    <a:pt x="21031200" y="1751714"/>
                    <a:pt x="20982814" y="1799975"/>
                    <a:pt x="20923250" y="1799975"/>
                  </a:cubicBezTo>
                  <a:lnTo>
                    <a:pt x="107950" y="1799975"/>
                  </a:lnTo>
                  <a:cubicBezTo>
                    <a:pt x="48260" y="1799975"/>
                    <a:pt x="0" y="1751587"/>
                    <a:pt x="0" y="1692024"/>
                  </a:cubicBezTo>
                  <a:close/>
                </a:path>
              </a:pathLst>
            </a:custGeom>
            <a:solidFill>
              <a:srgbClr val="F5F3FF"/>
            </a:solidFill>
          </p:spPr>
        </p:sp>
        <p:sp>
          <p:nvSpPr>
            <p:cNvPr name="TextBox 37" id="37"/>
            <p:cNvSpPr txBox="true"/>
            <p:nvPr/>
          </p:nvSpPr>
          <p:spPr>
            <a:xfrm>
              <a:off x="0" y="-47625"/>
              <a:ext cx="21031200" cy="1847625"/>
            </a:xfrm>
            <a:prstGeom prst="rect">
              <a:avLst/>
            </a:prstGeom>
          </p:spPr>
          <p:txBody>
            <a:bodyPr anchor="ctr" rtlCol="false" tIns="50800" lIns="50800" bIns="50800" rIns="50800"/>
            <a:lstStyle/>
            <a:p>
              <a:pPr algn="l">
                <a:lnSpc>
                  <a:spcPts val="2340"/>
                </a:lnSpc>
              </a:pPr>
              <a:r>
                <a:rPr lang="en-US" sz="1950" b="true">
                  <a:solidFill>
                    <a:srgbClr val="6D28D9"/>
                  </a:solidFill>
                  <a:latin typeface="Calibri (MS) Bold"/>
                  <a:ea typeface="Calibri (MS) Bold"/>
                  <a:cs typeface="Calibri (MS) Bold"/>
                  <a:sym typeface="Calibri (MS) Bold"/>
                </a:rPr>
                <a:t>Demo video- https://drive.google.com/file/d/1iSJeKIwWKvyI605R3ch6inuzyzR2DL-t/view?usp=sharing</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Tools and tech stack used</a:t>
              </a:r>
            </a:p>
          </p:txBody>
        </p:sp>
      </p:grpSp>
      <p:grpSp>
        <p:nvGrpSpPr>
          <p:cNvPr name="Group 5" id="5"/>
          <p:cNvGrpSpPr/>
          <p:nvPr/>
        </p:nvGrpSpPr>
        <p:grpSpPr>
          <a:xfrm rot="0">
            <a:off x="1247775" y="2465480"/>
            <a:ext cx="5076854" cy="2869054"/>
            <a:chOff x="0" y="0"/>
            <a:chExt cx="6769138" cy="3825405"/>
          </a:xfrm>
        </p:grpSpPr>
        <p:sp>
          <p:nvSpPr>
            <p:cNvPr name="Freeform 6" id="6"/>
            <p:cNvSpPr/>
            <p:nvPr/>
          </p:nvSpPr>
          <p:spPr>
            <a:xfrm flipH="false" flipV="false" rot="0">
              <a:off x="0" y="0"/>
              <a:ext cx="6769100" cy="3825367"/>
            </a:xfrm>
            <a:custGeom>
              <a:avLst/>
              <a:gdLst/>
              <a:ahLst/>
              <a:cxnLst/>
              <a:rect r="r" b="b" t="t" l="l"/>
              <a:pathLst>
                <a:path h="3825367" w="6769100">
                  <a:moveTo>
                    <a:pt x="0" y="229489"/>
                  </a:moveTo>
                  <a:cubicBezTo>
                    <a:pt x="0" y="102743"/>
                    <a:pt x="102743" y="0"/>
                    <a:pt x="229489" y="0"/>
                  </a:cubicBezTo>
                  <a:lnTo>
                    <a:pt x="6539611" y="0"/>
                  </a:lnTo>
                  <a:cubicBezTo>
                    <a:pt x="6666357" y="0"/>
                    <a:pt x="6769100" y="102743"/>
                    <a:pt x="6769100" y="229489"/>
                  </a:cubicBezTo>
                  <a:lnTo>
                    <a:pt x="6769100" y="3595878"/>
                  </a:lnTo>
                  <a:cubicBezTo>
                    <a:pt x="6769100" y="3722624"/>
                    <a:pt x="6666357" y="3825367"/>
                    <a:pt x="6539611" y="3825367"/>
                  </a:cubicBezTo>
                  <a:lnTo>
                    <a:pt x="229489" y="3825367"/>
                  </a:lnTo>
                  <a:cubicBezTo>
                    <a:pt x="102743" y="3825367"/>
                    <a:pt x="0" y="3722624"/>
                    <a:pt x="0" y="3595878"/>
                  </a:cubicBezTo>
                  <a:close/>
                </a:path>
              </a:pathLst>
            </a:custGeom>
            <a:solidFill>
              <a:srgbClr val="FFFFFF"/>
            </a:solidFill>
            <a:ln w="19050" cap="sq">
              <a:solidFill>
                <a:srgbClr val="E1DBF3"/>
              </a:solidFill>
              <a:prstDash val="solid"/>
              <a:miter/>
            </a:ln>
          </p:spPr>
        </p:sp>
        <p:sp>
          <p:nvSpPr>
            <p:cNvPr name="TextBox 7" id="7"/>
            <p:cNvSpPr txBox="true"/>
            <p:nvPr/>
          </p:nvSpPr>
          <p:spPr>
            <a:xfrm>
              <a:off x="0" y="-19050"/>
              <a:ext cx="6769138" cy="3844455"/>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Android layer</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Kotlin, Android Studio</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AccessibilityService for UI-tree read and actions</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Foreground service + overlay for record / replay controls</a:t>
              </a:r>
            </a:p>
          </p:txBody>
        </p:sp>
      </p:grpSp>
      <p:grpSp>
        <p:nvGrpSpPr>
          <p:cNvPr name="Group 8" id="8"/>
          <p:cNvGrpSpPr/>
          <p:nvPr/>
        </p:nvGrpSpPr>
        <p:grpSpPr>
          <a:xfrm rot="0">
            <a:off x="6605578" y="2465480"/>
            <a:ext cx="5076854" cy="2869054"/>
            <a:chOff x="0" y="0"/>
            <a:chExt cx="6769138" cy="3825405"/>
          </a:xfrm>
        </p:grpSpPr>
        <p:sp>
          <p:nvSpPr>
            <p:cNvPr name="Freeform 9" id="9"/>
            <p:cNvSpPr/>
            <p:nvPr/>
          </p:nvSpPr>
          <p:spPr>
            <a:xfrm flipH="false" flipV="false" rot="0">
              <a:off x="0" y="0"/>
              <a:ext cx="6769100" cy="3825367"/>
            </a:xfrm>
            <a:custGeom>
              <a:avLst/>
              <a:gdLst/>
              <a:ahLst/>
              <a:cxnLst/>
              <a:rect r="r" b="b" t="t" l="l"/>
              <a:pathLst>
                <a:path h="3825367" w="6769100">
                  <a:moveTo>
                    <a:pt x="0" y="229489"/>
                  </a:moveTo>
                  <a:cubicBezTo>
                    <a:pt x="0" y="102743"/>
                    <a:pt x="102743" y="0"/>
                    <a:pt x="229489" y="0"/>
                  </a:cubicBezTo>
                  <a:lnTo>
                    <a:pt x="6539611" y="0"/>
                  </a:lnTo>
                  <a:cubicBezTo>
                    <a:pt x="6666357" y="0"/>
                    <a:pt x="6769100" y="102743"/>
                    <a:pt x="6769100" y="229489"/>
                  </a:cubicBezTo>
                  <a:lnTo>
                    <a:pt x="6769100" y="3595878"/>
                  </a:lnTo>
                  <a:cubicBezTo>
                    <a:pt x="6769100" y="3722624"/>
                    <a:pt x="6666357" y="3825367"/>
                    <a:pt x="6539611" y="3825367"/>
                  </a:cubicBezTo>
                  <a:lnTo>
                    <a:pt x="229489" y="3825367"/>
                  </a:lnTo>
                  <a:cubicBezTo>
                    <a:pt x="102743" y="3825367"/>
                    <a:pt x="0" y="3722624"/>
                    <a:pt x="0" y="3595878"/>
                  </a:cubicBezTo>
                  <a:close/>
                </a:path>
              </a:pathLst>
            </a:custGeom>
            <a:solidFill>
              <a:srgbClr val="FFFFFF"/>
            </a:solidFill>
            <a:ln w="19050" cap="sq">
              <a:solidFill>
                <a:srgbClr val="E1DBF3"/>
              </a:solidFill>
              <a:prstDash val="solid"/>
              <a:miter/>
            </a:ln>
          </p:spPr>
        </p:sp>
        <p:sp>
          <p:nvSpPr>
            <p:cNvPr name="TextBox 10" id="10"/>
            <p:cNvSpPr txBox="true"/>
            <p:nvPr/>
          </p:nvSpPr>
          <p:spPr>
            <a:xfrm>
              <a:off x="0" y="-19050"/>
              <a:ext cx="6769138" cy="3844455"/>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Speech &amp; language</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On-device speech recognition (Android SpeechRecognizer / Whisper)</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LLM for intent and slot extraction</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Sentence embeddings for paraphrase matching</a:t>
              </a:r>
            </a:p>
          </p:txBody>
        </p:sp>
      </p:grpSp>
      <p:grpSp>
        <p:nvGrpSpPr>
          <p:cNvPr name="Group 11" id="11"/>
          <p:cNvGrpSpPr/>
          <p:nvPr/>
        </p:nvGrpSpPr>
        <p:grpSpPr>
          <a:xfrm rot="0">
            <a:off x="11963371" y="2465480"/>
            <a:ext cx="5076854" cy="2869054"/>
            <a:chOff x="0" y="0"/>
            <a:chExt cx="6769138" cy="3825405"/>
          </a:xfrm>
        </p:grpSpPr>
        <p:sp>
          <p:nvSpPr>
            <p:cNvPr name="Freeform 12" id="12"/>
            <p:cNvSpPr/>
            <p:nvPr/>
          </p:nvSpPr>
          <p:spPr>
            <a:xfrm flipH="false" flipV="false" rot="0">
              <a:off x="0" y="0"/>
              <a:ext cx="6769100" cy="3825367"/>
            </a:xfrm>
            <a:custGeom>
              <a:avLst/>
              <a:gdLst/>
              <a:ahLst/>
              <a:cxnLst/>
              <a:rect r="r" b="b" t="t" l="l"/>
              <a:pathLst>
                <a:path h="3825367" w="6769100">
                  <a:moveTo>
                    <a:pt x="0" y="229489"/>
                  </a:moveTo>
                  <a:cubicBezTo>
                    <a:pt x="0" y="102743"/>
                    <a:pt x="102743" y="0"/>
                    <a:pt x="229489" y="0"/>
                  </a:cubicBezTo>
                  <a:lnTo>
                    <a:pt x="6539611" y="0"/>
                  </a:lnTo>
                  <a:cubicBezTo>
                    <a:pt x="6666357" y="0"/>
                    <a:pt x="6769100" y="102743"/>
                    <a:pt x="6769100" y="229489"/>
                  </a:cubicBezTo>
                  <a:lnTo>
                    <a:pt x="6769100" y="3595878"/>
                  </a:lnTo>
                  <a:cubicBezTo>
                    <a:pt x="6769100" y="3722624"/>
                    <a:pt x="6666357" y="3825367"/>
                    <a:pt x="6539611" y="3825367"/>
                  </a:cubicBezTo>
                  <a:lnTo>
                    <a:pt x="229489" y="3825367"/>
                  </a:lnTo>
                  <a:cubicBezTo>
                    <a:pt x="102743" y="3825367"/>
                    <a:pt x="0" y="3722624"/>
                    <a:pt x="0" y="3595878"/>
                  </a:cubicBezTo>
                  <a:close/>
                </a:path>
              </a:pathLst>
            </a:custGeom>
            <a:solidFill>
              <a:srgbClr val="FFFFFF"/>
            </a:solidFill>
            <a:ln w="19050" cap="sq">
              <a:solidFill>
                <a:srgbClr val="E1DBF3"/>
              </a:solidFill>
              <a:prstDash val="solid"/>
              <a:miter/>
            </a:ln>
          </p:spPr>
        </p:sp>
        <p:sp>
          <p:nvSpPr>
            <p:cNvPr name="TextBox 13" id="13"/>
            <p:cNvSpPr txBox="true"/>
            <p:nvPr/>
          </p:nvSpPr>
          <p:spPr>
            <a:xfrm>
              <a:off x="0" y="-19050"/>
              <a:ext cx="6769138" cy="3844455"/>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Flow engine</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JSON flow graph: steps, selectors, slots</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Semantic element matching (text, role, position) for replay</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Local store (Room / SQLite) for flows</a:t>
              </a:r>
            </a:p>
          </p:txBody>
        </p:sp>
      </p:grpSp>
      <p:grpSp>
        <p:nvGrpSpPr>
          <p:cNvPr name="Group 14" id="14"/>
          <p:cNvGrpSpPr/>
          <p:nvPr/>
        </p:nvGrpSpPr>
        <p:grpSpPr>
          <a:xfrm rot="0">
            <a:off x="1247775" y="5615473"/>
            <a:ext cx="15792450" cy="2044046"/>
            <a:chOff x="0" y="0"/>
            <a:chExt cx="21056600" cy="2725395"/>
          </a:xfrm>
        </p:grpSpPr>
        <p:sp>
          <p:nvSpPr>
            <p:cNvPr name="Freeform 15" id="15"/>
            <p:cNvSpPr/>
            <p:nvPr/>
          </p:nvSpPr>
          <p:spPr>
            <a:xfrm flipH="false" flipV="false" rot="0">
              <a:off x="0" y="0"/>
              <a:ext cx="21056600" cy="2725420"/>
            </a:xfrm>
            <a:custGeom>
              <a:avLst/>
              <a:gdLst/>
              <a:ahLst/>
              <a:cxnLst/>
              <a:rect r="r" b="b" t="t" l="l"/>
              <a:pathLst>
                <a:path h="2725420" w="21056600">
                  <a:moveTo>
                    <a:pt x="0" y="163576"/>
                  </a:moveTo>
                  <a:cubicBezTo>
                    <a:pt x="0" y="73152"/>
                    <a:pt x="73152" y="0"/>
                    <a:pt x="163576" y="0"/>
                  </a:cubicBezTo>
                  <a:lnTo>
                    <a:pt x="20893024" y="0"/>
                  </a:lnTo>
                  <a:cubicBezTo>
                    <a:pt x="20983321" y="0"/>
                    <a:pt x="21056600" y="73152"/>
                    <a:pt x="21056600" y="163576"/>
                  </a:cubicBezTo>
                  <a:lnTo>
                    <a:pt x="21056600" y="2561844"/>
                  </a:lnTo>
                  <a:cubicBezTo>
                    <a:pt x="21056600" y="2652141"/>
                    <a:pt x="20983448" y="2725420"/>
                    <a:pt x="20893024" y="2725420"/>
                  </a:cubicBezTo>
                  <a:lnTo>
                    <a:pt x="163576" y="2725420"/>
                  </a:lnTo>
                  <a:cubicBezTo>
                    <a:pt x="73152" y="2725420"/>
                    <a:pt x="0" y="2652141"/>
                    <a:pt x="0" y="2561844"/>
                  </a:cubicBezTo>
                  <a:close/>
                </a:path>
              </a:pathLst>
            </a:custGeom>
            <a:solidFill>
              <a:srgbClr val="F5F3FF"/>
            </a:solidFill>
            <a:ln w="19050" cap="sq">
              <a:solidFill>
                <a:srgbClr val="E1DBF3"/>
              </a:solidFill>
              <a:prstDash val="solid"/>
              <a:miter/>
            </a:ln>
          </p:spPr>
        </p:sp>
        <p:sp>
          <p:nvSpPr>
            <p:cNvPr name="TextBox 16" id="16"/>
            <p:cNvSpPr txBox="true"/>
            <p:nvPr/>
          </p:nvSpPr>
          <p:spPr>
            <a:xfrm>
              <a:off x="0" y="-19050"/>
              <a:ext cx="21056600" cy="2744445"/>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Evaluation &amp; safety</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Metrics logged per run: learn success, replay success across sessions, paraphrase match accuracy</a:t>
              </a:r>
            </a:p>
            <a:p>
              <a:pPr algn="l" marL="339328" indent="-169664" lvl="1">
                <a:lnSpc>
                  <a:spcPts val="2250"/>
                </a:lnSpc>
                <a:buFont typeface="Arial"/>
                <a:buChar char="•"/>
              </a:pPr>
              <a:r>
                <a:rPr lang="en-US" sz="1875">
                  <a:solidFill>
                    <a:srgbClr val="63637E"/>
                  </a:solidFill>
                  <a:latin typeface="Calibri (MS)"/>
                  <a:ea typeface="Calibri (MS)"/>
                  <a:cs typeface="Calibri (MS)"/>
                  <a:sym typeface="Calibri (MS)"/>
                </a:rPr>
                <a:t>Guardrails: no credential capture, confirmation before payment or irreversible actions, user can interrupt any replay</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Impact &amp; Use case</a:t>
              </a:r>
            </a:p>
          </p:txBody>
        </p:sp>
      </p:grpSp>
      <p:grpSp>
        <p:nvGrpSpPr>
          <p:cNvPr name="Group 5" id="5"/>
          <p:cNvGrpSpPr/>
          <p:nvPr/>
        </p:nvGrpSpPr>
        <p:grpSpPr>
          <a:xfrm rot="0">
            <a:off x="1257300" y="2475005"/>
            <a:ext cx="5057804" cy="1874996"/>
            <a:chOff x="0" y="0"/>
            <a:chExt cx="6743738" cy="2499995"/>
          </a:xfrm>
        </p:grpSpPr>
        <p:sp>
          <p:nvSpPr>
            <p:cNvPr name="Freeform 6" id="6"/>
            <p:cNvSpPr/>
            <p:nvPr/>
          </p:nvSpPr>
          <p:spPr>
            <a:xfrm flipH="false" flipV="false" rot="0">
              <a:off x="0" y="0"/>
              <a:ext cx="6743700" cy="2499995"/>
            </a:xfrm>
            <a:custGeom>
              <a:avLst/>
              <a:gdLst/>
              <a:ahLst/>
              <a:cxnLst/>
              <a:rect r="r" b="b" t="t" l="l"/>
              <a:pathLst>
                <a:path h="2499995" w="6743700">
                  <a:moveTo>
                    <a:pt x="0" y="149987"/>
                  </a:moveTo>
                  <a:cubicBezTo>
                    <a:pt x="0" y="67183"/>
                    <a:pt x="67183" y="0"/>
                    <a:pt x="149987" y="0"/>
                  </a:cubicBezTo>
                  <a:lnTo>
                    <a:pt x="6593713" y="0"/>
                  </a:lnTo>
                  <a:cubicBezTo>
                    <a:pt x="6676517" y="0"/>
                    <a:pt x="6743700" y="67183"/>
                    <a:pt x="6743700" y="149987"/>
                  </a:cubicBezTo>
                  <a:lnTo>
                    <a:pt x="6743700" y="2350008"/>
                  </a:lnTo>
                  <a:cubicBezTo>
                    <a:pt x="6743700" y="2432812"/>
                    <a:pt x="6676517" y="2499995"/>
                    <a:pt x="6593713" y="2499995"/>
                  </a:cubicBezTo>
                  <a:lnTo>
                    <a:pt x="149987" y="2499995"/>
                  </a:lnTo>
                  <a:cubicBezTo>
                    <a:pt x="67183" y="2499995"/>
                    <a:pt x="0" y="2432812"/>
                    <a:pt x="0" y="2350008"/>
                  </a:cubicBezTo>
                  <a:close/>
                </a:path>
              </a:pathLst>
            </a:custGeom>
            <a:solidFill>
              <a:srgbClr val="F5F3FF"/>
            </a:solidFill>
          </p:spPr>
        </p:sp>
        <p:sp>
          <p:nvSpPr>
            <p:cNvPr name="TextBox 7" id="7"/>
            <p:cNvSpPr txBox="true"/>
            <p:nvPr/>
          </p:nvSpPr>
          <p:spPr>
            <a:xfrm>
              <a:off x="0" y="-28575"/>
              <a:ext cx="6743738" cy="2528570"/>
            </a:xfrm>
            <a:prstGeom prst="rect">
              <a:avLst/>
            </a:prstGeom>
          </p:spPr>
          <p:txBody>
            <a:bodyPr anchor="ctr" rtlCol="false" tIns="50800" lIns="50800" bIns="50800" rIns="50800"/>
            <a:lstStyle/>
            <a:p>
              <a:pPr algn="ctr">
                <a:lnSpc>
                  <a:spcPts val="5400"/>
                </a:lnSpc>
              </a:pPr>
              <a:r>
                <a:rPr lang="en-US" sz="4500" b="true">
                  <a:solidFill>
                    <a:srgbClr val="6D28D9"/>
                  </a:solidFill>
                  <a:latin typeface="Arial Bold"/>
                  <a:ea typeface="Arial Bold"/>
                  <a:cs typeface="Arial Bold"/>
                  <a:sym typeface="Arial Bold"/>
                </a:rPr>
                <a:t>1 demo</a:t>
              </a:r>
            </a:p>
            <a:p>
              <a:pPr algn="ctr">
                <a:lnSpc>
                  <a:spcPts val="2250"/>
                </a:lnSpc>
              </a:pPr>
              <a:r>
                <a:rPr lang="en-US" sz="1875">
                  <a:solidFill>
                    <a:srgbClr val="63637E"/>
                  </a:solidFill>
                  <a:latin typeface="Calibri (MS)"/>
                  <a:ea typeface="Calibri (MS)"/>
                  <a:cs typeface="Calibri (MS)"/>
                  <a:sym typeface="Calibri (MS)"/>
                </a:rPr>
                <a:t>is all a user needs to teach a task</a:t>
              </a:r>
            </a:p>
          </p:txBody>
        </p:sp>
      </p:grpSp>
      <p:grpSp>
        <p:nvGrpSpPr>
          <p:cNvPr name="Group 8" id="8"/>
          <p:cNvGrpSpPr/>
          <p:nvPr/>
        </p:nvGrpSpPr>
        <p:grpSpPr>
          <a:xfrm rot="0">
            <a:off x="6615103" y="2475005"/>
            <a:ext cx="5057804" cy="1874996"/>
            <a:chOff x="0" y="0"/>
            <a:chExt cx="6743738" cy="2499995"/>
          </a:xfrm>
        </p:grpSpPr>
        <p:sp>
          <p:nvSpPr>
            <p:cNvPr name="Freeform 9" id="9"/>
            <p:cNvSpPr/>
            <p:nvPr/>
          </p:nvSpPr>
          <p:spPr>
            <a:xfrm flipH="false" flipV="false" rot="0">
              <a:off x="0" y="0"/>
              <a:ext cx="6743700" cy="2499995"/>
            </a:xfrm>
            <a:custGeom>
              <a:avLst/>
              <a:gdLst/>
              <a:ahLst/>
              <a:cxnLst/>
              <a:rect r="r" b="b" t="t" l="l"/>
              <a:pathLst>
                <a:path h="2499995" w="6743700">
                  <a:moveTo>
                    <a:pt x="0" y="149987"/>
                  </a:moveTo>
                  <a:cubicBezTo>
                    <a:pt x="0" y="67183"/>
                    <a:pt x="67183" y="0"/>
                    <a:pt x="149987" y="0"/>
                  </a:cubicBezTo>
                  <a:lnTo>
                    <a:pt x="6593713" y="0"/>
                  </a:lnTo>
                  <a:cubicBezTo>
                    <a:pt x="6676517" y="0"/>
                    <a:pt x="6743700" y="67183"/>
                    <a:pt x="6743700" y="149987"/>
                  </a:cubicBezTo>
                  <a:lnTo>
                    <a:pt x="6743700" y="2350008"/>
                  </a:lnTo>
                  <a:cubicBezTo>
                    <a:pt x="6743700" y="2432812"/>
                    <a:pt x="6676517" y="2499995"/>
                    <a:pt x="6593713" y="2499995"/>
                  </a:cubicBezTo>
                  <a:lnTo>
                    <a:pt x="149987" y="2499995"/>
                  </a:lnTo>
                  <a:cubicBezTo>
                    <a:pt x="67183" y="2499995"/>
                    <a:pt x="0" y="2432812"/>
                    <a:pt x="0" y="2350008"/>
                  </a:cubicBezTo>
                  <a:close/>
                </a:path>
              </a:pathLst>
            </a:custGeom>
            <a:solidFill>
              <a:srgbClr val="F5F3FF"/>
            </a:solidFill>
          </p:spPr>
        </p:sp>
        <p:sp>
          <p:nvSpPr>
            <p:cNvPr name="TextBox 10" id="10"/>
            <p:cNvSpPr txBox="true"/>
            <p:nvPr/>
          </p:nvSpPr>
          <p:spPr>
            <a:xfrm>
              <a:off x="0" y="-28575"/>
              <a:ext cx="6743738" cy="2528570"/>
            </a:xfrm>
            <a:prstGeom prst="rect">
              <a:avLst/>
            </a:prstGeom>
          </p:spPr>
          <p:txBody>
            <a:bodyPr anchor="ctr" rtlCol="false" tIns="50800" lIns="50800" bIns="50800" rIns="50800"/>
            <a:lstStyle/>
            <a:p>
              <a:pPr algn="ctr">
                <a:lnSpc>
                  <a:spcPts val="5400"/>
                </a:lnSpc>
              </a:pPr>
              <a:r>
                <a:rPr lang="en-US" sz="4500" b="true">
                  <a:solidFill>
                    <a:srgbClr val="6D28D9"/>
                  </a:solidFill>
                  <a:latin typeface="Arial Bold"/>
                  <a:ea typeface="Arial Bold"/>
                  <a:cs typeface="Arial Bold"/>
                  <a:sym typeface="Arial Bold"/>
                </a:rPr>
                <a:t>Any app</a:t>
              </a:r>
            </a:p>
            <a:p>
              <a:pPr algn="ctr">
                <a:lnSpc>
                  <a:spcPts val="2250"/>
                </a:lnSpc>
              </a:pPr>
              <a:r>
                <a:rPr lang="en-US" sz="1875">
                  <a:solidFill>
                    <a:srgbClr val="63637E"/>
                  </a:solidFill>
                  <a:latin typeface="Calibri (MS)"/>
                  <a:ea typeface="Calibri (MS)"/>
                  <a:cs typeface="Calibri (MS)"/>
                  <a:sym typeface="Calibri (MS)"/>
                </a:rPr>
                <a:t>with an accessible UI — no vendor integration</a:t>
              </a:r>
            </a:p>
          </p:txBody>
        </p:sp>
      </p:grpSp>
      <p:grpSp>
        <p:nvGrpSpPr>
          <p:cNvPr name="Group 11" id="11"/>
          <p:cNvGrpSpPr/>
          <p:nvPr/>
        </p:nvGrpSpPr>
        <p:grpSpPr>
          <a:xfrm rot="0">
            <a:off x="11972896" y="2475005"/>
            <a:ext cx="5057804" cy="1874996"/>
            <a:chOff x="0" y="0"/>
            <a:chExt cx="6743738" cy="2499995"/>
          </a:xfrm>
        </p:grpSpPr>
        <p:sp>
          <p:nvSpPr>
            <p:cNvPr name="Freeform 12" id="12"/>
            <p:cNvSpPr/>
            <p:nvPr/>
          </p:nvSpPr>
          <p:spPr>
            <a:xfrm flipH="false" flipV="false" rot="0">
              <a:off x="0" y="0"/>
              <a:ext cx="6743700" cy="2499995"/>
            </a:xfrm>
            <a:custGeom>
              <a:avLst/>
              <a:gdLst/>
              <a:ahLst/>
              <a:cxnLst/>
              <a:rect r="r" b="b" t="t" l="l"/>
              <a:pathLst>
                <a:path h="2499995" w="6743700">
                  <a:moveTo>
                    <a:pt x="0" y="149987"/>
                  </a:moveTo>
                  <a:cubicBezTo>
                    <a:pt x="0" y="67183"/>
                    <a:pt x="67183" y="0"/>
                    <a:pt x="149987" y="0"/>
                  </a:cubicBezTo>
                  <a:lnTo>
                    <a:pt x="6593713" y="0"/>
                  </a:lnTo>
                  <a:cubicBezTo>
                    <a:pt x="6676517" y="0"/>
                    <a:pt x="6743700" y="67183"/>
                    <a:pt x="6743700" y="149987"/>
                  </a:cubicBezTo>
                  <a:lnTo>
                    <a:pt x="6743700" y="2350008"/>
                  </a:lnTo>
                  <a:cubicBezTo>
                    <a:pt x="6743700" y="2432812"/>
                    <a:pt x="6676517" y="2499995"/>
                    <a:pt x="6593713" y="2499995"/>
                  </a:cubicBezTo>
                  <a:lnTo>
                    <a:pt x="149987" y="2499995"/>
                  </a:lnTo>
                  <a:cubicBezTo>
                    <a:pt x="67183" y="2499995"/>
                    <a:pt x="0" y="2432812"/>
                    <a:pt x="0" y="2350008"/>
                  </a:cubicBezTo>
                  <a:close/>
                </a:path>
              </a:pathLst>
            </a:custGeom>
            <a:solidFill>
              <a:srgbClr val="F5F3FF"/>
            </a:solidFill>
          </p:spPr>
        </p:sp>
        <p:sp>
          <p:nvSpPr>
            <p:cNvPr name="TextBox 13" id="13"/>
            <p:cNvSpPr txBox="true"/>
            <p:nvPr/>
          </p:nvSpPr>
          <p:spPr>
            <a:xfrm>
              <a:off x="0" y="-28575"/>
              <a:ext cx="6743738" cy="2528570"/>
            </a:xfrm>
            <a:prstGeom prst="rect">
              <a:avLst/>
            </a:prstGeom>
          </p:spPr>
          <p:txBody>
            <a:bodyPr anchor="ctr" rtlCol="false" tIns="50800" lIns="50800" bIns="50800" rIns="50800"/>
            <a:lstStyle/>
            <a:p>
              <a:pPr algn="ctr">
                <a:lnSpc>
                  <a:spcPts val="5400"/>
                </a:lnSpc>
              </a:pPr>
              <a:r>
                <a:rPr lang="en-US" sz="4500" b="true">
                  <a:solidFill>
                    <a:srgbClr val="6D28D9"/>
                  </a:solidFill>
                  <a:latin typeface="Arial Bold"/>
                  <a:ea typeface="Arial Bold"/>
                  <a:cs typeface="Arial Bold"/>
                  <a:sym typeface="Arial Bold"/>
                </a:rPr>
                <a:t>0</a:t>
              </a:r>
            </a:p>
            <a:p>
              <a:pPr algn="ctr">
                <a:lnSpc>
                  <a:spcPts val="2250"/>
                </a:lnSpc>
              </a:pPr>
              <a:r>
                <a:rPr lang="en-US" sz="1875">
                  <a:solidFill>
                    <a:srgbClr val="63637E"/>
                  </a:solidFill>
                  <a:latin typeface="Calibri (MS)"/>
                  <a:ea typeface="Calibri (MS)"/>
                  <a:cs typeface="Calibri (MS)"/>
                  <a:sym typeface="Calibri (MS)"/>
                </a:rPr>
                <a:t>credentials captured or stored</a:t>
              </a:r>
            </a:p>
          </p:txBody>
        </p:sp>
      </p:grpSp>
      <p:grpSp>
        <p:nvGrpSpPr>
          <p:cNvPr name="Group 14" id="14"/>
          <p:cNvGrpSpPr/>
          <p:nvPr/>
        </p:nvGrpSpPr>
        <p:grpSpPr>
          <a:xfrm rot="0">
            <a:off x="1247775" y="4640475"/>
            <a:ext cx="7755750" cy="3544052"/>
            <a:chOff x="0" y="0"/>
            <a:chExt cx="10341000" cy="4725403"/>
          </a:xfrm>
        </p:grpSpPr>
        <p:sp>
          <p:nvSpPr>
            <p:cNvPr name="Freeform 15" id="15"/>
            <p:cNvSpPr/>
            <p:nvPr/>
          </p:nvSpPr>
          <p:spPr>
            <a:xfrm flipH="false" flipV="false" rot="0">
              <a:off x="0" y="0"/>
              <a:ext cx="10340848" cy="4725289"/>
            </a:xfrm>
            <a:custGeom>
              <a:avLst/>
              <a:gdLst/>
              <a:ahLst/>
              <a:cxnLst/>
              <a:rect r="r" b="b" t="t" l="l"/>
              <a:pathLst>
                <a:path h="4725289" w="10340848">
                  <a:moveTo>
                    <a:pt x="0" y="283464"/>
                  </a:moveTo>
                  <a:cubicBezTo>
                    <a:pt x="0" y="127000"/>
                    <a:pt x="127000" y="0"/>
                    <a:pt x="283464" y="0"/>
                  </a:cubicBezTo>
                  <a:lnTo>
                    <a:pt x="10057384" y="0"/>
                  </a:lnTo>
                  <a:cubicBezTo>
                    <a:pt x="10213975" y="0"/>
                    <a:pt x="10340848" y="127000"/>
                    <a:pt x="10340848" y="283464"/>
                  </a:cubicBezTo>
                  <a:lnTo>
                    <a:pt x="10340848" y="4441825"/>
                  </a:lnTo>
                  <a:cubicBezTo>
                    <a:pt x="10340848" y="4598416"/>
                    <a:pt x="10213848" y="4725289"/>
                    <a:pt x="10057384" y="4725289"/>
                  </a:cubicBezTo>
                  <a:lnTo>
                    <a:pt x="283464" y="4725289"/>
                  </a:lnTo>
                  <a:cubicBezTo>
                    <a:pt x="127000" y="4725416"/>
                    <a:pt x="0" y="4598416"/>
                    <a:pt x="0" y="4441825"/>
                  </a:cubicBezTo>
                  <a:close/>
                </a:path>
              </a:pathLst>
            </a:custGeom>
            <a:solidFill>
              <a:srgbClr val="FFFFFF"/>
            </a:solidFill>
            <a:ln w="19050" cap="sq">
              <a:solidFill>
                <a:srgbClr val="E1DBF3"/>
              </a:solidFill>
              <a:prstDash val="solid"/>
              <a:miter/>
            </a:ln>
          </p:spPr>
        </p:sp>
        <p:sp>
          <p:nvSpPr>
            <p:cNvPr name="TextBox 16" id="16"/>
            <p:cNvSpPr txBox="true"/>
            <p:nvPr/>
          </p:nvSpPr>
          <p:spPr>
            <a:xfrm>
              <a:off x="0" y="-19050"/>
              <a:ext cx="10341000" cy="4744453"/>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Use cases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Reorder groceries: “Order 2 kg onions on Amazon”</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Food delivery: “Get my usual from Zomato”</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Repeat bookings, recharges, address changes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Chain flows across two apps in one command</a:t>
              </a:r>
            </a:p>
          </p:txBody>
        </p:sp>
      </p:grpSp>
      <p:grpSp>
        <p:nvGrpSpPr>
          <p:cNvPr name="Group 17" id="17"/>
          <p:cNvGrpSpPr/>
          <p:nvPr/>
        </p:nvGrpSpPr>
        <p:grpSpPr>
          <a:xfrm rot="0">
            <a:off x="9284475" y="4640475"/>
            <a:ext cx="7755750" cy="3544052"/>
            <a:chOff x="0" y="0"/>
            <a:chExt cx="10341000" cy="4725403"/>
          </a:xfrm>
        </p:grpSpPr>
        <p:sp>
          <p:nvSpPr>
            <p:cNvPr name="Freeform 18" id="18"/>
            <p:cNvSpPr/>
            <p:nvPr/>
          </p:nvSpPr>
          <p:spPr>
            <a:xfrm flipH="false" flipV="false" rot="0">
              <a:off x="0" y="0"/>
              <a:ext cx="10340848" cy="4725289"/>
            </a:xfrm>
            <a:custGeom>
              <a:avLst/>
              <a:gdLst/>
              <a:ahLst/>
              <a:cxnLst/>
              <a:rect r="r" b="b" t="t" l="l"/>
              <a:pathLst>
                <a:path h="4725289" w="10340848">
                  <a:moveTo>
                    <a:pt x="0" y="283464"/>
                  </a:moveTo>
                  <a:cubicBezTo>
                    <a:pt x="0" y="127000"/>
                    <a:pt x="127000" y="0"/>
                    <a:pt x="283464" y="0"/>
                  </a:cubicBezTo>
                  <a:lnTo>
                    <a:pt x="10057384" y="0"/>
                  </a:lnTo>
                  <a:cubicBezTo>
                    <a:pt x="10213975" y="0"/>
                    <a:pt x="10340848" y="127000"/>
                    <a:pt x="10340848" y="283464"/>
                  </a:cubicBezTo>
                  <a:lnTo>
                    <a:pt x="10340848" y="4441825"/>
                  </a:lnTo>
                  <a:cubicBezTo>
                    <a:pt x="10340848" y="4598416"/>
                    <a:pt x="10213848" y="4725289"/>
                    <a:pt x="10057384" y="4725289"/>
                  </a:cubicBezTo>
                  <a:lnTo>
                    <a:pt x="283464" y="4725289"/>
                  </a:lnTo>
                  <a:cubicBezTo>
                    <a:pt x="127000" y="4725416"/>
                    <a:pt x="0" y="4598416"/>
                    <a:pt x="0" y="4441825"/>
                  </a:cubicBezTo>
                  <a:close/>
                </a:path>
              </a:pathLst>
            </a:custGeom>
            <a:solidFill>
              <a:srgbClr val="FFFFFF"/>
            </a:solidFill>
            <a:ln w="19050" cap="sq">
              <a:solidFill>
                <a:srgbClr val="E1DBF3"/>
              </a:solidFill>
              <a:prstDash val="solid"/>
              <a:miter/>
            </a:ln>
          </p:spPr>
        </p:sp>
        <p:sp>
          <p:nvSpPr>
            <p:cNvPr name="TextBox 19" id="19"/>
            <p:cNvSpPr txBox="true"/>
            <p:nvPr/>
          </p:nvSpPr>
          <p:spPr>
            <a:xfrm>
              <a:off x="0" y="-19050"/>
              <a:ext cx="10341000" cy="4744453"/>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Who benefits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Elderly and first-time smartphone users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People with visual or motor impairments who need hands-free control</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Busy users with repetitive multi-tap routines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Any app becomes voice-enabled without waiting for developers</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Innovation highlights, results and limitations</a:t>
              </a:r>
            </a:p>
          </p:txBody>
        </p:sp>
      </p:grpSp>
      <p:grpSp>
        <p:nvGrpSpPr>
          <p:cNvPr name="Group 5" id="5"/>
          <p:cNvGrpSpPr/>
          <p:nvPr/>
        </p:nvGrpSpPr>
        <p:grpSpPr>
          <a:xfrm rot="0">
            <a:off x="1247775" y="2465480"/>
            <a:ext cx="5076854" cy="5719048"/>
            <a:chOff x="0" y="0"/>
            <a:chExt cx="6769138" cy="7625397"/>
          </a:xfrm>
        </p:grpSpPr>
        <p:sp>
          <p:nvSpPr>
            <p:cNvPr name="Freeform 6" id="6"/>
            <p:cNvSpPr/>
            <p:nvPr/>
          </p:nvSpPr>
          <p:spPr>
            <a:xfrm flipH="false" flipV="false" rot="0">
              <a:off x="0" y="0"/>
              <a:ext cx="6769100" cy="7625461"/>
            </a:xfrm>
            <a:custGeom>
              <a:avLst/>
              <a:gdLst/>
              <a:ahLst/>
              <a:cxnLst/>
              <a:rect r="r" b="b" t="t" l="l"/>
              <a:pathLst>
                <a:path h="7625461" w="6769100">
                  <a:moveTo>
                    <a:pt x="0" y="406146"/>
                  </a:moveTo>
                  <a:cubicBezTo>
                    <a:pt x="0" y="181864"/>
                    <a:pt x="181864" y="0"/>
                    <a:pt x="406146" y="0"/>
                  </a:cubicBezTo>
                  <a:lnTo>
                    <a:pt x="6362954" y="0"/>
                  </a:lnTo>
                  <a:cubicBezTo>
                    <a:pt x="6587236" y="0"/>
                    <a:pt x="6769100" y="181864"/>
                    <a:pt x="6769100" y="406146"/>
                  </a:cubicBezTo>
                  <a:lnTo>
                    <a:pt x="6769100" y="7219315"/>
                  </a:lnTo>
                  <a:cubicBezTo>
                    <a:pt x="6769100" y="7443597"/>
                    <a:pt x="6587236" y="7625461"/>
                    <a:pt x="6362954" y="7625461"/>
                  </a:cubicBezTo>
                  <a:lnTo>
                    <a:pt x="406146" y="7625461"/>
                  </a:lnTo>
                  <a:cubicBezTo>
                    <a:pt x="181864" y="7625461"/>
                    <a:pt x="0" y="7443597"/>
                    <a:pt x="0" y="7219315"/>
                  </a:cubicBezTo>
                  <a:close/>
                </a:path>
              </a:pathLst>
            </a:custGeom>
            <a:solidFill>
              <a:srgbClr val="FFFFFF"/>
            </a:solidFill>
            <a:ln w="19050" cap="sq">
              <a:solidFill>
                <a:srgbClr val="E1DBF3"/>
              </a:solidFill>
              <a:prstDash val="solid"/>
              <a:miter/>
            </a:ln>
          </p:spPr>
        </p:sp>
        <p:sp>
          <p:nvSpPr>
            <p:cNvPr name="TextBox 7" id="7"/>
            <p:cNvSpPr txBox="true"/>
            <p:nvPr/>
          </p:nvSpPr>
          <p:spPr>
            <a:xfrm>
              <a:off x="0" y="-19050"/>
              <a:ext cx="6769138" cy="7644447"/>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Innovation highlights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Learn from a single demonstration</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Generalises into slot-based flows, not tap replay</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Paraphrase-tolerant matching of new commands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Self-healing replay when screens change</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Works through accessibility, no app APIs</a:t>
              </a:r>
            </a:p>
          </p:txBody>
        </p:sp>
      </p:grpSp>
      <p:grpSp>
        <p:nvGrpSpPr>
          <p:cNvPr name="Group 8" id="8"/>
          <p:cNvGrpSpPr/>
          <p:nvPr/>
        </p:nvGrpSpPr>
        <p:grpSpPr>
          <a:xfrm rot="0">
            <a:off x="6605573" y="2536031"/>
            <a:ext cx="5076854" cy="5719050"/>
            <a:chOff x="0" y="0"/>
            <a:chExt cx="6769138" cy="7625400"/>
          </a:xfrm>
        </p:grpSpPr>
        <p:sp>
          <p:nvSpPr>
            <p:cNvPr name="Freeform 9" id="9"/>
            <p:cNvSpPr/>
            <p:nvPr/>
          </p:nvSpPr>
          <p:spPr>
            <a:xfrm flipH="false" flipV="false" rot="0">
              <a:off x="0" y="0"/>
              <a:ext cx="6769100" cy="7625463"/>
            </a:xfrm>
            <a:custGeom>
              <a:avLst/>
              <a:gdLst/>
              <a:ahLst/>
              <a:cxnLst/>
              <a:rect r="r" b="b" t="t" l="l"/>
              <a:pathLst>
                <a:path h="7625463" w="6769100">
                  <a:moveTo>
                    <a:pt x="0" y="406146"/>
                  </a:moveTo>
                  <a:cubicBezTo>
                    <a:pt x="0" y="181864"/>
                    <a:pt x="181864" y="0"/>
                    <a:pt x="406146" y="0"/>
                  </a:cubicBezTo>
                  <a:lnTo>
                    <a:pt x="6362954" y="0"/>
                  </a:lnTo>
                  <a:cubicBezTo>
                    <a:pt x="6587236" y="0"/>
                    <a:pt x="6769100" y="181864"/>
                    <a:pt x="6769100" y="406146"/>
                  </a:cubicBezTo>
                  <a:lnTo>
                    <a:pt x="6769100" y="7219317"/>
                  </a:lnTo>
                  <a:cubicBezTo>
                    <a:pt x="6769100" y="7443599"/>
                    <a:pt x="6587236" y="7625463"/>
                    <a:pt x="6362954" y="7625463"/>
                  </a:cubicBezTo>
                  <a:lnTo>
                    <a:pt x="406146" y="7625463"/>
                  </a:lnTo>
                  <a:cubicBezTo>
                    <a:pt x="181864" y="7625463"/>
                    <a:pt x="0" y="7443599"/>
                    <a:pt x="0" y="7219317"/>
                  </a:cubicBezTo>
                  <a:close/>
                </a:path>
              </a:pathLst>
            </a:custGeom>
            <a:solidFill>
              <a:srgbClr val="F5F3FF"/>
            </a:solidFill>
            <a:ln w="19050" cap="sq">
              <a:solidFill>
                <a:srgbClr val="E1DBF3"/>
              </a:solidFill>
              <a:prstDash val="solid"/>
              <a:miter/>
            </a:ln>
          </p:spPr>
        </p:sp>
        <p:sp>
          <p:nvSpPr>
            <p:cNvPr name="TextBox 10" id="10"/>
            <p:cNvSpPr txBox="true"/>
            <p:nvPr/>
          </p:nvSpPr>
          <p:spPr>
            <a:xfrm>
              <a:off x="0" y="-19050"/>
              <a:ext cx="6769138" cy="7644450"/>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Results</a:t>
              </a:r>
            </a:p>
            <a:p>
              <a:pPr algn="l">
                <a:lnSpc>
                  <a:spcPts val="2250"/>
                </a:lnSpc>
              </a:pPr>
              <a:r>
                <a:rPr lang="en-US" sz="1875" b="true">
                  <a:solidFill>
                    <a:srgbClr val="6D28D9"/>
                  </a:solidFill>
                  <a:latin typeface="Calibri (MS) Bold"/>
                  <a:ea typeface="Calibri (MS) Bold"/>
                  <a:cs typeface="Calibri (MS) Bold"/>
                  <a:sym typeface="Calibri (MS) Bold"/>
                </a:rPr>
                <a:t>85 %  </a:t>
              </a:r>
              <a:r>
                <a:rPr lang="en-US" sz="1875">
                  <a:solidFill>
                    <a:srgbClr val="63637E"/>
                  </a:solidFill>
                  <a:latin typeface="Calibri (MS)"/>
                  <a:ea typeface="Calibri (MS)"/>
                  <a:cs typeface="Calibri (MS)"/>
                  <a:sym typeface="Calibri (MS)"/>
                </a:rPr>
                <a:t>Learn success</a:t>
              </a:r>
            </a:p>
            <a:p>
              <a:pPr algn="l">
                <a:lnSpc>
                  <a:spcPts val="2250"/>
                </a:lnSpc>
              </a:pPr>
              <a:r>
                <a:rPr lang="en-US" sz="1875">
                  <a:solidFill>
                    <a:srgbClr val="6D28D9"/>
                  </a:solidFill>
                  <a:latin typeface="Calibri (MS)"/>
                  <a:ea typeface="Calibri (MS)"/>
                  <a:cs typeface="Calibri (MS)"/>
                  <a:sym typeface="Calibri (MS)"/>
                </a:rPr>
                <a:t>80</a:t>
              </a:r>
              <a:r>
                <a:rPr lang="en-US" sz="1875" b="true">
                  <a:solidFill>
                    <a:srgbClr val="6D28D9"/>
                  </a:solidFill>
                  <a:latin typeface="Calibri (MS) Bold"/>
                  <a:ea typeface="Calibri (MS) Bold"/>
                  <a:cs typeface="Calibri (MS) Bold"/>
                  <a:sym typeface="Calibri (MS) Bold"/>
                </a:rPr>
                <a:t> %  </a:t>
              </a:r>
              <a:r>
                <a:rPr lang="en-US" sz="1875">
                  <a:solidFill>
                    <a:srgbClr val="63637E"/>
                  </a:solidFill>
                  <a:latin typeface="Calibri (MS)"/>
                  <a:ea typeface="Calibri (MS)"/>
                  <a:cs typeface="Calibri (MS)"/>
                  <a:sym typeface="Calibri (MS)"/>
                </a:rPr>
                <a:t>Replay success (across sessions)</a:t>
              </a:r>
            </a:p>
            <a:p>
              <a:pPr algn="l">
                <a:lnSpc>
                  <a:spcPts val="2250"/>
                </a:lnSpc>
              </a:pPr>
              <a:r>
                <a:rPr lang="en-US" sz="1875">
                  <a:solidFill>
                    <a:srgbClr val="6D28D9"/>
                  </a:solidFill>
                  <a:latin typeface="Calibri (MS)"/>
                  <a:ea typeface="Calibri (MS)"/>
                  <a:cs typeface="Calibri (MS)"/>
                  <a:sym typeface="Calibri (MS)"/>
                </a:rPr>
                <a:t>90</a:t>
              </a:r>
              <a:r>
                <a:rPr lang="en-US" sz="1875" b="true">
                  <a:solidFill>
                    <a:srgbClr val="6D28D9"/>
                  </a:solidFill>
                  <a:latin typeface="Calibri (MS) Bold"/>
                  <a:ea typeface="Calibri (MS) Bold"/>
                  <a:cs typeface="Calibri (MS) Bold"/>
                  <a:sym typeface="Calibri (MS) Bold"/>
                </a:rPr>
                <a:t> %  </a:t>
              </a:r>
              <a:r>
                <a:rPr lang="en-US" sz="1875">
                  <a:solidFill>
                    <a:srgbClr val="63637E"/>
                  </a:solidFill>
                  <a:latin typeface="Calibri (MS)"/>
                  <a:ea typeface="Calibri (MS)"/>
                  <a:cs typeface="Calibri (MS)"/>
                  <a:sym typeface="Calibri (MS)"/>
                </a:rPr>
                <a:t>Paraphrase match accuracy</a:t>
              </a:r>
            </a:p>
            <a:p>
              <a:pPr algn="l">
                <a:lnSpc>
                  <a:spcPts val="1980"/>
                </a:lnSpc>
              </a:pPr>
            </a:p>
          </p:txBody>
        </p:sp>
      </p:grpSp>
      <p:grpSp>
        <p:nvGrpSpPr>
          <p:cNvPr name="Group 11" id="11"/>
          <p:cNvGrpSpPr/>
          <p:nvPr/>
        </p:nvGrpSpPr>
        <p:grpSpPr>
          <a:xfrm rot="0">
            <a:off x="11963371" y="2465480"/>
            <a:ext cx="5076854" cy="5719048"/>
            <a:chOff x="0" y="0"/>
            <a:chExt cx="6769138" cy="7625397"/>
          </a:xfrm>
        </p:grpSpPr>
        <p:sp>
          <p:nvSpPr>
            <p:cNvPr name="Freeform 12" id="12"/>
            <p:cNvSpPr/>
            <p:nvPr/>
          </p:nvSpPr>
          <p:spPr>
            <a:xfrm flipH="false" flipV="false" rot="0">
              <a:off x="0" y="0"/>
              <a:ext cx="6769100" cy="7625461"/>
            </a:xfrm>
            <a:custGeom>
              <a:avLst/>
              <a:gdLst/>
              <a:ahLst/>
              <a:cxnLst/>
              <a:rect r="r" b="b" t="t" l="l"/>
              <a:pathLst>
                <a:path h="7625461" w="6769100">
                  <a:moveTo>
                    <a:pt x="0" y="406146"/>
                  </a:moveTo>
                  <a:cubicBezTo>
                    <a:pt x="0" y="181864"/>
                    <a:pt x="181864" y="0"/>
                    <a:pt x="406146" y="0"/>
                  </a:cubicBezTo>
                  <a:lnTo>
                    <a:pt x="6362954" y="0"/>
                  </a:lnTo>
                  <a:cubicBezTo>
                    <a:pt x="6587236" y="0"/>
                    <a:pt x="6769100" y="181864"/>
                    <a:pt x="6769100" y="406146"/>
                  </a:cubicBezTo>
                  <a:lnTo>
                    <a:pt x="6769100" y="7219315"/>
                  </a:lnTo>
                  <a:cubicBezTo>
                    <a:pt x="6769100" y="7443597"/>
                    <a:pt x="6587236" y="7625461"/>
                    <a:pt x="6362954" y="7625461"/>
                  </a:cubicBezTo>
                  <a:lnTo>
                    <a:pt x="406146" y="7625461"/>
                  </a:lnTo>
                  <a:cubicBezTo>
                    <a:pt x="181864" y="7625461"/>
                    <a:pt x="0" y="7443597"/>
                    <a:pt x="0" y="7219315"/>
                  </a:cubicBezTo>
                  <a:close/>
                </a:path>
              </a:pathLst>
            </a:custGeom>
            <a:solidFill>
              <a:srgbClr val="FFFFFF"/>
            </a:solidFill>
            <a:ln w="19050" cap="sq">
              <a:solidFill>
                <a:srgbClr val="E1DBF3"/>
              </a:solidFill>
              <a:prstDash val="solid"/>
              <a:miter/>
            </a:ln>
          </p:spPr>
        </p:sp>
        <p:sp>
          <p:nvSpPr>
            <p:cNvPr name="TextBox 13" id="13"/>
            <p:cNvSpPr txBox="true"/>
            <p:nvPr/>
          </p:nvSpPr>
          <p:spPr>
            <a:xfrm>
              <a:off x="0" y="-19050"/>
              <a:ext cx="6769138" cy="7644447"/>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Limitations</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Apps with heavy custom-drawn UIs expose a weak accessibility tree</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Major app redesigns may need re-teaching</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Payment and login stay manual by design</a:t>
              </a:r>
            </a:p>
            <a:p>
              <a:pPr algn="l" marL="352901" indent="-176451" lvl="1">
                <a:lnSpc>
                  <a:spcPts val="2340"/>
                </a:lnSpc>
                <a:buFont typeface="Arial"/>
                <a:buChar char="•"/>
              </a:pPr>
              <a:r>
                <a:rPr lang="en-US" sz="1950">
                  <a:solidFill>
                    <a:srgbClr val="63637E"/>
                  </a:solidFill>
                  <a:latin typeface="Calibri (MS)"/>
                  <a:ea typeface="Calibri (MS)"/>
                  <a:cs typeface="Calibri (MS)"/>
                  <a:sym typeface="Calibri (MS)"/>
                </a:rPr>
                <a:t>Tested on a small set of apps</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What’s next</a:t>
              </a:r>
            </a:p>
          </p:txBody>
        </p:sp>
      </p:grpSp>
      <p:grpSp>
        <p:nvGrpSpPr>
          <p:cNvPr name="Group 5" id="5"/>
          <p:cNvGrpSpPr/>
          <p:nvPr/>
        </p:nvGrpSpPr>
        <p:grpSpPr>
          <a:xfrm rot="0">
            <a:off x="1257300" y="3254997"/>
            <a:ext cx="15773400" cy="44996"/>
            <a:chOff x="0" y="0"/>
            <a:chExt cx="21031200" cy="59995"/>
          </a:xfrm>
        </p:grpSpPr>
        <p:sp>
          <p:nvSpPr>
            <p:cNvPr name="Freeform 6" id="6"/>
            <p:cNvSpPr/>
            <p:nvPr/>
          </p:nvSpPr>
          <p:spPr>
            <a:xfrm flipH="false" flipV="false" rot="0">
              <a:off x="0" y="0"/>
              <a:ext cx="21031200" cy="59944"/>
            </a:xfrm>
            <a:custGeom>
              <a:avLst/>
              <a:gdLst/>
              <a:ahLst/>
              <a:cxnLst/>
              <a:rect r="r" b="b" t="t" l="l"/>
              <a:pathLst>
                <a:path h="59944" w="21031200">
                  <a:moveTo>
                    <a:pt x="0" y="0"/>
                  </a:moveTo>
                  <a:lnTo>
                    <a:pt x="21031200" y="0"/>
                  </a:lnTo>
                  <a:lnTo>
                    <a:pt x="21031200" y="59944"/>
                  </a:lnTo>
                  <a:lnTo>
                    <a:pt x="0" y="59944"/>
                  </a:lnTo>
                  <a:close/>
                </a:path>
              </a:pathLst>
            </a:custGeom>
            <a:solidFill>
              <a:srgbClr val="B9A9E0"/>
            </a:solidFill>
          </p:spPr>
        </p:sp>
      </p:grpSp>
      <p:grpSp>
        <p:nvGrpSpPr>
          <p:cNvPr name="Group 7" id="7"/>
          <p:cNvGrpSpPr/>
          <p:nvPr/>
        </p:nvGrpSpPr>
        <p:grpSpPr>
          <a:xfrm rot="0">
            <a:off x="1257300" y="2954998"/>
            <a:ext cx="630003" cy="630003"/>
            <a:chOff x="0" y="0"/>
            <a:chExt cx="840003" cy="840003"/>
          </a:xfrm>
        </p:grpSpPr>
        <p:sp>
          <p:nvSpPr>
            <p:cNvPr name="Freeform 8" id="8"/>
            <p:cNvSpPr/>
            <p:nvPr/>
          </p:nvSpPr>
          <p:spPr>
            <a:xfrm flipH="false" flipV="false" rot="0">
              <a:off x="0" y="0"/>
              <a:ext cx="839978" cy="839978"/>
            </a:xfrm>
            <a:custGeom>
              <a:avLst/>
              <a:gdLst/>
              <a:ahLst/>
              <a:cxnLst/>
              <a:rect r="r" b="b" t="t" l="l"/>
              <a:pathLst>
                <a:path h="839978" w="839978">
                  <a:moveTo>
                    <a:pt x="0" y="419989"/>
                  </a:moveTo>
                  <a:cubicBezTo>
                    <a:pt x="0" y="188087"/>
                    <a:pt x="188087" y="0"/>
                    <a:pt x="419989" y="0"/>
                  </a:cubicBezTo>
                  <a:cubicBezTo>
                    <a:pt x="651891" y="0"/>
                    <a:pt x="839978" y="188087"/>
                    <a:pt x="839978" y="419989"/>
                  </a:cubicBezTo>
                  <a:cubicBezTo>
                    <a:pt x="839978" y="651891"/>
                    <a:pt x="652018" y="839978"/>
                    <a:pt x="419989" y="839978"/>
                  </a:cubicBezTo>
                  <a:cubicBezTo>
                    <a:pt x="187960" y="839978"/>
                    <a:pt x="0" y="652018"/>
                    <a:pt x="0" y="419989"/>
                  </a:cubicBezTo>
                  <a:close/>
                </a:path>
              </a:pathLst>
            </a:custGeom>
            <a:solidFill>
              <a:srgbClr val="6D28D9"/>
            </a:solidFill>
          </p:spPr>
        </p:sp>
      </p:grpSp>
      <p:grpSp>
        <p:nvGrpSpPr>
          <p:cNvPr name="Group 9" id="9"/>
          <p:cNvGrpSpPr/>
          <p:nvPr/>
        </p:nvGrpSpPr>
        <p:grpSpPr>
          <a:xfrm rot="0">
            <a:off x="1257300" y="2400005"/>
            <a:ext cx="3718350" cy="449999"/>
            <a:chOff x="0" y="0"/>
            <a:chExt cx="4957801" cy="599999"/>
          </a:xfrm>
        </p:grpSpPr>
        <p:sp>
          <p:nvSpPr>
            <p:cNvPr name="Freeform 10" id="10"/>
            <p:cNvSpPr/>
            <p:nvPr/>
          </p:nvSpPr>
          <p:spPr>
            <a:xfrm flipH="false" flipV="false" rot="0">
              <a:off x="0" y="0"/>
              <a:ext cx="4957800" cy="600000"/>
            </a:xfrm>
            <a:custGeom>
              <a:avLst/>
              <a:gdLst/>
              <a:ahLst/>
              <a:cxnLst/>
              <a:rect r="r" b="b" t="t" l="l"/>
              <a:pathLst>
                <a:path h="600000" w="4957800">
                  <a:moveTo>
                    <a:pt x="0" y="0"/>
                  </a:moveTo>
                  <a:lnTo>
                    <a:pt x="4957800" y="0"/>
                  </a:lnTo>
                  <a:lnTo>
                    <a:pt x="4957800" y="600000"/>
                  </a:lnTo>
                  <a:lnTo>
                    <a:pt x="0" y="600000"/>
                  </a:lnTo>
                  <a:close/>
                </a:path>
              </a:pathLst>
            </a:custGeom>
            <a:blipFill>
              <a:blip r:embed="rId2">
                <a:alphaModFix amt="0"/>
              </a:blip>
              <a:stretch>
                <a:fillRect l="0" t="-111004" r="0" b="-111004"/>
              </a:stretch>
            </a:blipFill>
          </p:spPr>
        </p:sp>
        <p:sp>
          <p:nvSpPr>
            <p:cNvPr name="TextBox 11" id="11"/>
            <p:cNvSpPr txBox="true"/>
            <p:nvPr/>
          </p:nvSpPr>
          <p:spPr>
            <a:xfrm>
              <a:off x="0" y="-19050"/>
              <a:ext cx="4957801" cy="619049"/>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NOW</a:t>
              </a:r>
            </a:p>
          </p:txBody>
        </p:sp>
      </p:grpSp>
      <p:grpSp>
        <p:nvGrpSpPr>
          <p:cNvPr name="Group 12" id="12"/>
          <p:cNvGrpSpPr/>
          <p:nvPr/>
        </p:nvGrpSpPr>
        <p:grpSpPr>
          <a:xfrm rot="0">
            <a:off x="1247775" y="3815477"/>
            <a:ext cx="3737400" cy="3319053"/>
            <a:chOff x="0" y="0"/>
            <a:chExt cx="4983201" cy="4425404"/>
          </a:xfrm>
        </p:grpSpPr>
        <p:sp>
          <p:nvSpPr>
            <p:cNvPr name="Freeform 13" id="13"/>
            <p:cNvSpPr/>
            <p:nvPr/>
          </p:nvSpPr>
          <p:spPr>
            <a:xfrm flipH="false" flipV="false" rot="0">
              <a:off x="0" y="0"/>
              <a:ext cx="4983226" cy="4425442"/>
            </a:xfrm>
            <a:custGeom>
              <a:avLst/>
              <a:gdLst/>
              <a:ahLst/>
              <a:cxnLst/>
              <a:rect r="r" b="b" t="t" l="l"/>
              <a:pathLst>
                <a:path h="4425442" w="4983226">
                  <a:moveTo>
                    <a:pt x="0" y="265557"/>
                  </a:moveTo>
                  <a:cubicBezTo>
                    <a:pt x="0" y="118872"/>
                    <a:pt x="118872" y="0"/>
                    <a:pt x="265557" y="0"/>
                  </a:cubicBezTo>
                  <a:lnTo>
                    <a:pt x="4717669" y="0"/>
                  </a:lnTo>
                  <a:cubicBezTo>
                    <a:pt x="4864354" y="0"/>
                    <a:pt x="4983226" y="118872"/>
                    <a:pt x="4983226" y="265557"/>
                  </a:cubicBezTo>
                  <a:lnTo>
                    <a:pt x="4983226" y="4159885"/>
                  </a:lnTo>
                  <a:cubicBezTo>
                    <a:pt x="4983226" y="4306570"/>
                    <a:pt x="4864354" y="4425442"/>
                    <a:pt x="4717669" y="4425442"/>
                  </a:cubicBezTo>
                  <a:lnTo>
                    <a:pt x="265557" y="4425442"/>
                  </a:lnTo>
                  <a:cubicBezTo>
                    <a:pt x="118872" y="4425442"/>
                    <a:pt x="0" y="4306570"/>
                    <a:pt x="0" y="4159885"/>
                  </a:cubicBezTo>
                  <a:close/>
                </a:path>
              </a:pathLst>
            </a:custGeom>
            <a:solidFill>
              <a:srgbClr val="FFFFFF"/>
            </a:solidFill>
            <a:ln w="19050" cap="sq">
              <a:solidFill>
                <a:srgbClr val="E1DBF3"/>
              </a:solidFill>
              <a:prstDash val="solid"/>
              <a:miter/>
            </a:ln>
          </p:spPr>
        </p:sp>
        <p:sp>
          <p:nvSpPr>
            <p:cNvPr name="TextBox 14" id="14"/>
            <p:cNvSpPr txBox="true"/>
            <p:nvPr/>
          </p:nvSpPr>
          <p:spPr>
            <a:xfrm>
              <a:off x="0" y="-19050"/>
              <a:ext cx="4983201" cy="444445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Prototype</a:t>
              </a:r>
            </a:p>
            <a:p>
              <a:pPr algn="l">
                <a:lnSpc>
                  <a:spcPts val="2340"/>
                </a:lnSpc>
              </a:pPr>
              <a:r>
                <a:rPr lang="en-US" sz="1950">
                  <a:solidFill>
                    <a:srgbClr val="63637E"/>
                  </a:solidFill>
                  <a:latin typeface="Calibri (MS)"/>
                  <a:ea typeface="Calibri (MS)"/>
                  <a:cs typeface="Calibri (MS)"/>
                  <a:sym typeface="Calibri (MS)"/>
                </a:rPr>
                <a:t>Record, generalise and replay on 2–3 apps with slot filling</a:t>
              </a:r>
            </a:p>
          </p:txBody>
        </p:sp>
      </p:grpSp>
      <p:grpSp>
        <p:nvGrpSpPr>
          <p:cNvPr name="Group 15" id="15"/>
          <p:cNvGrpSpPr/>
          <p:nvPr/>
        </p:nvGrpSpPr>
        <p:grpSpPr>
          <a:xfrm rot="0">
            <a:off x="5275650" y="2954998"/>
            <a:ext cx="630003" cy="630003"/>
            <a:chOff x="0" y="0"/>
            <a:chExt cx="840003" cy="840003"/>
          </a:xfrm>
        </p:grpSpPr>
        <p:sp>
          <p:nvSpPr>
            <p:cNvPr name="Freeform 16" id="16"/>
            <p:cNvSpPr/>
            <p:nvPr/>
          </p:nvSpPr>
          <p:spPr>
            <a:xfrm flipH="false" flipV="false" rot="0">
              <a:off x="0" y="0"/>
              <a:ext cx="839978" cy="839978"/>
            </a:xfrm>
            <a:custGeom>
              <a:avLst/>
              <a:gdLst/>
              <a:ahLst/>
              <a:cxnLst/>
              <a:rect r="r" b="b" t="t" l="l"/>
              <a:pathLst>
                <a:path h="839978" w="839978">
                  <a:moveTo>
                    <a:pt x="0" y="419989"/>
                  </a:moveTo>
                  <a:cubicBezTo>
                    <a:pt x="0" y="188087"/>
                    <a:pt x="188087" y="0"/>
                    <a:pt x="419989" y="0"/>
                  </a:cubicBezTo>
                  <a:cubicBezTo>
                    <a:pt x="651891" y="0"/>
                    <a:pt x="839978" y="188087"/>
                    <a:pt x="839978" y="419989"/>
                  </a:cubicBezTo>
                  <a:cubicBezTo>
                    <a:pt x="839978" y="651891"/>
                    <a:pt x="652018" y="839978"/>
                    <a:pt x="419989" y="839978"/>
                  </a:cubicBezTo>
                  <a:cubicBezTo>
                    <a:pt x="187960" y="839978"/>
                    <a:pt x="0" y="652018"/>
                    <a:pt x="0" y="419989"/>
                  </a:cubicBezTo>
                  <a:close/>
                </a:path>
              </a:pathLst>
            </a:custGeom>
            <a:solidFill>
              <a:srgbClr val="6D28D9"/>
            </a:solidFill>
          </p:spPr>
        </p:sp>
      </p:grpSp>
      <p:grpSp>
        <p:nvGrpSpPr>
          <p:cNvPr name="Group 17" id="17"/>
          <p:cNvGrpSpPr/>
          <p:nvPr/>
        </p:nvGrpSpPr>
        <p:grpSpPr>
          <a:xfrm rot="0">
            <a:off x="5275650" y="2400005"/>
            <a:ext cx="3718350" cy="449999"/>
            <a:chOff x="0" y="0"/>
            <a:chExt cx="4957801" cy="599999"/>
          </a:xfrm>
        </p:grpSpPr>
        <p:sp>
          <p:nvSpPr>
            <p:cNvPr name="Freeform 18" id="18"/>
            <p:cNvSpPr/>
            <p:nvPr/>
          </p:nvSpPr>
          <p:spPr>
            <a:xfrm flipH="false" flipV="false" rot="0">
              <a:off x="0" y="0"/>
              <a:ext cx="4957800" cy="600000"/>
            </a:xfrm>
            <a:custGeom>
              <a:avLst/>
              <a:gdLst/>
              <a:ahLst/>
              <a:cxnLst/>
              <a:rect r="r" b="b" t="t" l="l"/>
              <a:pathLst>
                <a:path h="600000" w="4957800">
                  <a:moveTo>
                    <a:pt x="0" y="0"/>
                  </a:moveTo>
                  <a:lnTo>
                    <a:pt x="4957800" y="0"/>
                  </a:lnTo>
                  <a:lnTo>
                    <a:pt x="4957800" y="600000"/>
                  </a:lnTo>
                  <a:lnTo>
                    <a:pt x="0" y="600000"/>
                  </a:lnTo>
                  <a:close/>
                </a:path>
              </a:pathLst>
            </a:custGeom>
            <a:blipFill>
              <a:blip r:embed="rId2">
                <a:alphaModFix amt="0"/>
              </a:blip>
              <a:stretch>
                <a:fillRect l="0" t="-111004" r="0" b="-111004"/>
              </a:stretch>
            </a:blipFill>
          </p:spPr>
        </p:sp>
        <p:sp>
          <p:nvSpPr>
            <p:cNvPr name="TextBox 19" id="19"/>
            <p:cNvSpPr txBox="true"/>
            <p:nvPr/>
          </p:nvSpPr>
          <p:spPr>
            <a:xfrm>
              <a:off x="0" y="-19050"/>
              <a:ext cx="4957801" cy="619049"/>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NEXT</a:t>
              </a:r>
            </a:p>
          </p:txBody>
        </p:sp>
      </p:grpSp>
      <p:grpSp>
        <p:nvGrpSpPr>
          <p:cNvPr name="Group 20" id="20"/>
          <p:cNvGrpSpPr/>
          <p:nvPr/>
        </p:nvGrpSpPr>
        <p:grpSpPr>
          <a:xfrm rot="0">
            <a:off x="5266125" y="3815477"/>
            <a:ext cx="3737400" cy="3319053"/>
            <a:chOff x="0" y="0"/>
            <a:chExt cx="4983201" cy="4425404"/>
          </a:xfrm>
        </p:grpSpPr>
        <p:sp>
          <p:nvSpPr>
            <p:cNvPr name="Freeform 21" id="21"/>
            <p:cNvSpPr/>
            <p:nvPr/>
          </p:nvSpPr>
          <p:spPr>
            <a:xfrm flipH="false" flipV="false" rot="0">
              <a:off x="0" y="0"/>
              <a:ext cx="4983226" cy="4425442"/>
            </a:xfrm>
            <a:custGeom>
              <a:avLst/>
              <a:gdLst/>
              <a:ahLst/>
              <a:cxnLst/>
              <a:rect r="r" b="b" t="t" l="l"/>
              <a:pathLst>
                <a:path h="4425442" w="4983226">
                  <a:moveTo>
                    <a:pt x="0" y="265557"/>
                  </a:moveTo>
                  <a:cubicBezTo>
                    <a:pt x="0" y="118872"/>
                    <a:pt x="118872" y="0"/>
                    <a:pt x="265557" y="0"/>
                  </a:cubicBezTo>
                  <a:lnTo>
                    <a:pt x="4717669" y="0"/>
                  </a:lnTo>
                  <a:cubicBezTo>
                    <a:pt x="4864354" y="0"/>
                    <a:pt x="4983226" y="118872"/>
                    <a:pt x="4983226" y="265557"/>
                  </a:cubicBezTo>
                  <a:lnTo>
                    <a:pt x="4983226" y="4159885"/>
                  </a:lnTo>
                  <a:cubicBezTo>
                    <a:pt x="4983226" y="4306570"/>
                    <a:pt x="4864354" y="4425442"/>
                    <a:pt x="4717669" y="4425442"/>
                  </a:cubicBezTo>
                  <a:lnTo>
                    <a:pt x="265557" y="4425442"/>
                  </a:lnTo>
                  <a:cubicBezTo>
                    <a:pt x="118872" y="4425442"/>
                    <a:pt x="0" y="4306570"/>
                    <a:pt x="0" y="4159885"/>
                  </a:cubicBezTo>
                  <a:close/>
                </a:path>
              </a:pathLst>
            </a:custGeom>
            <a:solidFill>
              <a:srgbClr val="FFFFFF"/>
            </a:solidFill>
            <a:ln w="19050" cap="sq">
              <a:solidFill>
                <a:srgbClr val="E1DBF3"/>
              </a:solidFill>
              <a:prstDash val="solid"/>
              <a:miter/>
            </a:ln>
          </p:spPr>
        </p:sp>
        <p:sp>
          <p:nvSpPr>
            <p:cNvPr name="TextBox 22" id="22"/>
            <p:cNvSpPr txBox="true"/>
            <p:nvPr/>
          </p:nvSpPr>
          <p:spPr>
            <a:xfrm>
              <a:off x="0" y="-19050"/>
              <a:ext cx="4983201" cy="444445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Robustness</a:t>
              </a:r>
            </a:p>
            <a:p>
              <a:pPr algn="l">
                <a:lnSpc>
                  <a:spcPts val="2340"/>
                </a:lnSpc>
              </a:pPr>
              <a:r>
                <a:rPr lang="en-US" sz="1950">
                  <a:solidFill>
                    <a:srgbClr val="63637E"/>
                  </a:solidFill>
                  <a:latin typeface="Calibri (MS)"/>
                  <a:ea typeface="Calibri (MS)"/>
                  <a:cs typeface="Calibri (MS)"/>
                  <a:sym typeface="Calibri (MS)"/>
                </a:rPr>
                <a:t>Better recovery from popups, A/B layouts and app updates</a:t>
              </a:r>
            </a:p>
          </p:txBody>
        </p:sp>
      </p:grpSp>
      <p:grpSp>
        <p:nvGrpSpPr>
          <p:cNvPr name="Group 23" id="23"/>
          <p:cNvGrpSpPr/>
          <p:nvPr/>
        </p:nvGrpSpPr>
        <p:grpSpPr>
          <a:xfrm rot="0">
            <a:off x="9294000" y="2954998"/>
            <a:ext cx="630003" cy="630003"/>
            <a:chOff x="0" y="0"/>
            <a:chExt cx="840003" cy="840003"/>
          </a:xfrm>
        </p:grpSpPr>
        <p:sp>
          <p:nvSpPr>
            <p:cNvPr name="Freeform 24" id="24"/>
            <p:cNvSpPr/>
            <p:nvPr/>
          </p:nvSpPr>
          <p:spPr>
            <a:xfrm flipH="false" flipV="false" rot="0">
              <a:off x="0" y="0"/>
              <a:ext cx="839978" cy="839978"/>
            </a:xfrm>
            <a:custGeom>
              <a:avLst/>
              <a:gdLst/>
              <a:ahLst/>
              <a:cxnLst/>
              <a:rect r="r" b="b" t="t" l="l"/>
              <a:pathLst>
                <a:path h="839978" w="839978">
                  <a:moveTo>
                    <a:pt x="0" y="419989"/>
                  </a:moveTo>
                  <a:cubicBezTo>
                    <a:pt x="0" y="188087"/>
                    <a:pt x="188087" y="0"/>
                    <a:pt x="419989" y="0"/>
                  </a:cubicBezTo>
                  <a:cubicBezTo>
                    <a:pt x="651891" y="0"/>
                    <a:pt x="839978" y="188087"/>
                    <a:pt x="839978" y="419989"/>
                  </a:cubicBezTo>
                  <a:cubicBezTo>
                    <a:pt x="839978" y="651891"/>
                    <a:pt x="652018" y="839978"/>
                    <a:pt x="419989" y="839978"/>
                  </a:cubicBezTo>
                  <a:cubicBezTo>
                    <a:pt x="187960" y="839978"/>
                    <a:pt x="0" y="652018"/>
                    <a:pt x="0" y="419989"/>
                  </a:cubicBezTo>
                  <a:close/>
                </a:path>
              </a:pathLst>
            </a:custGeom>
            <a:solidFill>
              <a:srgbClr val="6D28D9"/>
            </a:solidFill>
          </p:spPr>
        </p:sp>
      </p:grpSp>
      <p:grpSp>
        <p:nvGrpSpPr>
          <p:cNvPr name="Group 25" id="25"/>
          <p:cNvGrpSpPr/>
          <p:nvPr/>
        </p:nvGrpSpPr>
        <p:grpSpPr>
          <a:xfrm rot="0">
            <a:off x="9294000" y="2400005"/>
            <a:ext cx="3718350" cy="449999"/>
            <a:chOff x="0" y="0"/>
            <a:chExt cx="4957801" cy="599999"/>
          </a:xfrm>
        </p:grpSpPr>
        <p:sp>
          <p:nvSpPr>
            <p:cNvPr name="Freeform 26" id="26"/>
            <p:cNvSpPr/>
            <p:nvPr/>
          </p:nvSpPr>
          <p:spPr>
            <a:xfrm flipH="false" flipV="false" rot="0">
              <a:off x="0" y="0"/>
              <a:ext cx="4957800" cy="600000"/>
            </a:xfrm>
            <a:custGeom>
              <a:avLst/>
              <a:gdLst/>
              <a:ahLst/>
              <a:cxnLst/>
              <a:rect r="r" b="b" t="t" l="l"/>
              <a:pathLst>
                <a:path h="600000" w="4957800">
                  <a:moveTo>
                    <a:pt x="0" y="0"/>
                  </a:moveTo>
                  <a:lnTo>
                    <a:pt x="4957800" y="0"/>
                  </a:lnTo>
                  <a:lnTo>
                    <a:pt x="4957800" y="600000"/>
                  </a:lnTo>
                  <a:lnTo>
                    <a:pt x="0" y="600000"/>
                  </a:lnTo>
                  <a:close/>
                </a:path>
              </a:pathLst>
            </a:custGeom>
            <a:blipFill>
              <a:blip r:embed="rId2">
                <a:alphaModFix amt="0"/>
              </a:blip>
              <a:stretch>
                <a:fillRect l="0" t="-111004" r="0" b="-111004"/>
              </a:stretch>
            </a:blipFill>
          </p:spPr>
        </p:sp>
        <p:sp>
          <p:nvSpPr>
            <p:cNvPr name="TextBox 27" id="27"/>
            <p:cNvSpPr txBox="true"/>
            <p:nvPr/>
          </p:nvSpPr>
          <p:spPr>
            <a:xfrm>
              <a:off x="0" y="-19050"/>
              <a:ext cx="4957801" cy="619049"/>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THEN</a:t>
              </a:r>
            </a:p>
          </p:txBody>
        </p:sp>
      </p:grpSp>
      <p:grpSp>
        <p:nvGrpSpPr>
          <p:cNvPr name="Group 28" id="28"/>
          <p:cNvGrpSpPr/>
          <p:nvPr/>
        </p:nvGrpSpPr>
        <p:grpSpPr>
          <a:xfrm rot="0">
            <a:off x="9284475" y="3815477"/>
            <a:ext cx="3737400" cy="3319053"/>
            <a:chOff x="0" y="0"/>
            <a:chExt cx="4983201" cy="4425404"/>
          </a:xfrm>
        </p:grpSpPr>
        <p:sp>
          <p:nvSpPr>
            <p:cNvPr name="Freeform 29" id="29"/>
            <p:cNvSpPr/>
            <p:nvPr/>
          </p:nvSpPr>
          <p:spPr>
            <a:xfrm flipH="false" flipV="false" rot="0">
              <a:off x="0" y="0"/>
              <a:ext cx="4983226" cy="4425442"/>
            </a:xfrm>
            <a:custGeom>
              <a:avLst/>
              <a:gdLst/>
              <a:ahLst/>
              <a:cxnLst/>
              <a:rect r="r" b="b" t="t" l="l"/>
              <a:pathLst>
                <a:path h="4425442" w="4983226">
                  <a:moveTo>
                    <a:pt x="0" y="265557"/>
                  </a:moveTo>
                  <a:cubicBezTo>
                    <a:pt x="0" y="118872"/>
                    <a:pt x="118872" y="0"/>
                    <a:pt x="265557" y="0"/>
                  </a:cubicBezTo>
                  <a:lnTo>
                    <a:pt x="4717669" y="0"/>
                  </a:lnTo>
                  <a:cubicBezTo>
                    <a:pt x="4864354" y="0"/>
                    <a:pt x="4983226" y="118872"/>
                    <a:pt x="4983226" y="265557"/>
                  </a:cubicBezTo>
                  <a:lnTo>
                    <a:pt x="4983226" y="4159885"/>
                  </a:lnTo>
                  <a:cubicBezTo>
                    <a:pt x="4983226" y="4306570"/>
                    <a:pt x="4864354" y="4425442"/>
                    <a:pt x="4717669" y="4425442"/>
                  </a:cubicBezTo>
                  <a:lnTo>
                    <a:pt x="265557" y="4425442"/>
                  </a:lnTo>
                  <a:cubicBezTo>
                    <a:pt x="118872" y="4425442"/>
                    <a:pt x="0" y="4306570"/>
                    <a:pt x="0" y="4159885"/>
                  </a:cubicBezTo>
                  <a:close/>
                </a:path>
              </a:pathLst>
            </a:custGeom>
            <a:solidFill>
              <a:srgbClr val="FFFFFF"/>
            </a:solidFill>
            <a:ln w="19050" cap="sq">
              <a:solidFill>
                <a:srgbClr val="E1DBF3"/>
              </a:solidFill>
              <a:prstDash val="solid"/>
              <a:miter/>
            </a:ln>
          </p:spPr>
        </p:sp>
        <p:sp>
          <p:nvSpPr>
            <p:cNvPr name="TextBox 30" id="30"/>
            <p:cNvSpPr txBox="true"/>
            <p:nvPr/>
          </p:nvSpPr>
          <p:spPr>
            <a:xfrm>
              <a:off x="0" y="-19050"/>
              <a:ext cx="4983201" cy="444445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Scale</a:t>
              </a:r>
            </a:p>
            <a:p>
              <a:pPr algn="l">
                <a:lnSpc>
                  <a:spcPts val="2340"/>
                </a:lnSpc>
              </a:pPr>
              <a:r>
                <a:rPr lang="en-US" sz="1950">
                  <a:solidFill>
                    <a:srgbClr val="63637E"/>
                  </a:solidFill>
                  <a:latin typeface="Calibri (MS)"/>
                  <a:ea typeface="Calibri (MS)"/>
                  <a:cs typeface="Calibri (MS)"/>
                  <a:sym typeface="Calibri (MS)"/>
                </a:rPr>
                <a:t>Multi-app chaining, shared flow library, on-device models</a:t>
              </a:r>
            </a:p>
          </p:txBody>
        </p:sp>
      </p:grpSp>
      <p:grpSp>
        <p:nvGrpSpPr>
          <p:cNvPr name="Group 31" id="31"/>
          <p:cNvGrpSpPr/>
          <p:nvPr/>
        </p:nvGrpSpPr>
        <p:grpSpPr>
          <a:xfrm rot="0">
            <a:off x="13312350" y="2954998"/>
            <a:ext cx="630003" cy="630003"/>
            <a:chOff x="0" y="0"/>
            <a:chExt cx="840003" cy="840003"/>
          </a:xfrm>
        </p:grpSpPr>
        <p:sp>
          <p:nvSpPr>
            <p:cNvPr name="Freeform 32" id="32"/>
            <p:cNvSpPr/>
            <p:nvPr/>
          </p:nvSpPr>
          <p:spPr>
            <a:xfrm flipH="false" flipV="false" rot="0">
              <a:off x="0" y="0"/>
              <a:ext cx="839978" cy="839978"/>
            </a:xfrm>
            <a:custGeom>
              <a:avLst/>
              <a:gdLst/>
              <a:ahLst/>
              <a:cxnLst/>
              <a:rect r="r" b="b" t="t" l="l"/>
              <a:pathLst>
                <a:path h="839978" w="839978">
                  <a:moveTo>
                    <a:pt x="0" y="419989"/>
                  </a:moveTo>
                  <a:cubicBezTo>
                    <a:pt x="0" y="188087"/>
                    <a:pt x="188087" y="0"/>
                    <a:pt x="419989" y="0"/>
                  </a:cubicBezTo>
                  <a:cubicBezTo>
                    <a:pt x="651891" y="0"/>
                    <a:pt x="839978" y="188087"/>
                    <a:pt x="839978" y="419989"/>
                  </a:cubicBezTo>
                  <a:cubicBezTo>
                    <a:pt x="839978" y="651891"/>
                    <a:pt x="652018" y="839978"/>
                    <a:pt x="419989" y="839978"/>
                  </a:cubicBezTo>
                  <a:cubicBezTo>
                    <a:pt x="187960" y="839978"/>
                    <a:pt x="0" y="652018"/>
                    <a:pt x="0" y="419989"/>
                  </a:cubicBezTo>
                  <a:close/>
                </a:path>
              </a:pathLst>
            </a:custGeom>
            <a:solidFill>
              <a:srgbClr val="6D28D9"/>
            </a:solidFill>
          </p:spPr>
        </p:sp>
      </p:grpSp>
      <p:grpSp>
        <p:nvGrpSpPr>
          <p:cNvPr name="Group 33" id="33"/>
          <p:cNvGrpSpPr/>
          <p:nvPr/>
        </p:nvGrpSpPr>
        <p:grpSpPr>
          <a:xfrm rot="0">
            <a:off x="13312350" y="2400005"/>
            <a:ext cx="3718350" cy="449999"/>
            <a:chOff x="0" y="0"/>
            <a:chExt cx="4957801" cy="599999"/>
          </a:xfrm>
        </p:grpSpPr>
        <p:sp>
          <p:nvSpPr>
            <p:cNvPr name="Freeform 34" id="34"/>
            <p:cNvSpPr/>
            <p:nvPr/>
          </p:nvSpPr>
          <p:spPr>
            <a:xfrm flipH="false" flipV="false" rot="0">
              <a:off x="0" y="0"/>
              <a:ext cx="4957800" cy="600000"/>
            </a:xfrm>
            <a:custGeom>
              <a:avLst/>
              <a:gdLst/>
              <a:ahLst/>
              <a:cxnLst/>
              <a:rect r="r" b="b" t="t" l="l"/>
              <a:pathLst>
                <a:path h="600000" w="4957800">
                  <a:moveTo>
                    <a:pt x="0" y="0"/>
                  </a:moveTo>
                  <a:lnTo>
                    <a:pt x="4957800" y="0"/>
                  </a:lnTo>
                  <a:lnTo>
                    <a:pt x="4957800" y="600000"/>
                  </a:lnTo>
                  <a:lnTo>
                    <a:pt x="0" y="600000"/>
                  </a:lnTo>
                  <a:close/>
                </a:path>
              </a:pathLst>
            </a:custGeom>
            <a:blipFill>
              <a:blip r:embed="rId2">
                <a:alphaModFix amt="0"/>
              </a:blip>
              <a:stretch>
                <a:fillRect l="0" t="-111004" r="0" b="-111004"/>
              </a:stretch>
            </a:blipFill>
          </p:spPr>
        </p:sp>
        <p:sp>
          <p:nvSpPr>
            <p:cNvPr name="TextBox 35" id="35"/>
            <p:cNvSpPr txBox="true"/>
            <p:nvPr/>
          </p:nvSpPr>
          <p:spPr>
            <a:xfrm>
              <a:off x="0" y="-19050"/>
              <a:ext cx="4957801" cy="619049"/>
            </a:xfrm>
            <a:prstGeom prst="rect">
              <a:avLst/>
            </a:prstGeom>
          </p:spPr>
          <p:txBody>
            <a:bodyPr anchor="ctr" rtlCol="false" tIns="0" lIns="0" bIns="0" rIns="0"/>
            <a:lstStyle/>
            <a:p>
              <a:pPr algn="l">
                <a:lnSpc>
                  <a:spcPts val="2160"/>
                </a:lnSpc>
              </a:pPr>
              <a:r>
                <a:rPr lang="en-US" sz="1800" b="true">
                  <a:solidFill>
                    <a:srgbClr val="6D28D9"/>
                  </a:solidFill>
                  <a:latin typeface="Arial Bold"/>
                  <a:ea typeface="Arial Bold"/>
                  <a:cs typeface="Arial Bold"/>
                  <a:sym typeface="Arial Bold"/>
                </a:rPr>
                <a:t>LATER</a:t>
              </a:r>
            </a:p>
          </p:txBody>
        </p:sp>
      </p:grpSp>
      <p:grpSp>
        <p:nvGrpSpPr>
          <p:cNvPr name="Group 36" id="36"/>
          <p:cNvGrpSpPr/>
          <p:nvPr/>
        </p:nvGrpSpPr>
        <p:grpSpPr>
          <a:xfrm rot="0">
            <a:off x="13302825" y="3815477"/>
            <a:ext cx="3737400" cy="3319053"/>
            <a:chOff x="0" y="0"/>
            <a:chExt cx="4983201" cy="4425404"/>
          </a:xfrm>
        </p:grpSpPr>
        <p:sp>
          <p:nvSpPr>
            <p:cNvPr name="Freeform 37" id="37"/>
            <p:cNvSpPr/>
            <p:nvPr/>
          </p:nvSpPr>
          <p:spPr>
            <a:xfrm flipH="false" flipV="false" rot="0">
              <a:off x="0" y="0"/>
              <a:ext cx="4983226" cy="4425442"/>
            </a:xfrm>
            <a:custGeom>
              <a:avLst/>
              <a:gdLst/>
              <a:ahLst/>
              <a:cxnLst/>
              <a:rect r="r" b="b" t="t" l="l"/>
              <a:pathLst>
                <a:path h="4425442" w="4983226">
                  <a:moveTo>
                    <a:pt x="0" y="265557"/>
                  </a:moveTo>
                  <a:cubicBezTo>
                    <a:pt x="0" y="118872"/>
                    <a:pt x="118872" y="0"/>
                    <a:pt x="265557" y="0"/>
                  </a:cubicBezTo>
                  <a:lnTo>
                    <a:pt x="4717669" y="0"/>
                  </a:lnTo>
                  <a:cubicBezTo>
                    <a:pt x="4864354" y="0"/>
                    <a:pt x="4983226" y="118872"/>
                    <a:pt x="4983226" y="265557"/>
                  </a:cubicBezTo>
                  <a:lnTo>
                    <a:pt x="4983226" y="4159885"/>
                  </a:lnTo>
                  <a:cubicBezTo>
                    <a:pt x="4983226" y="4306570"/>
                    <a:pt x="4864354" y="4425442"/>
                    <a:pt x="4717669" y="4425442"/>
                  </a:cubicBezTo>
                  <a:lnTo>
                    <a:pt x="265557" y="4425442"/>
                  </a:lnTo>
                  <a:cubicBezTo>
                    <a:pt x="118872" y="4425442"/>
                    <a:pt x="0" y="4306570"/>
                    <a:pt x="0" y="4159885"/>
                  </a:cubicBezTo>
                  <a:close/>
                </a:path>
              </a:pathLst>
            </a:custGeom>
            <a:solidFill>
              <a:srgbClr val="FFFFFF"/>
            </a:solidFill>
            <a:ln w="19050" cap="sq">
              <a:solidFill>
                <a:srgbClr val="E1DBF3"/>
              </a:solidFill>
              <a:prstDash val="solid"/>
              <a:miter/>
            </a:ln>
          </p:spPr>
        </p:sp>
        <p:sp>
          <p:nvSpPr>
            <p:cNvPr name="TextBox 38" id="38"/>
            <p:cNvSpPr txBox="true"/>
            <p:nvPr/>
          </p:nvSpPr>
          <p:spPr>
            <a:xfrm>
              <a:off x="0" y="-19050"/>
              <a:ext cx="4983201" cy="4444454"/>
            </a:xfrm>
            <a:prstGeom prst="rect">
              <a:avLst/>
            </a:prstGeom>
          </p:spPr>
          <p:txBody>
            <a:bodyPr anchor="t" rtlCol="false" tIns="50800" lIns="50800" bIns="50800" rIns="50800"/>
            <a:lstStyle/>
            <a:p>
              <a:pPr algn="l">
                <a:lnSpc>
                  <a:spcPts val="2700"/>
                </a:lnSpc>
              </a:pPr>
              <a:r>
                <a:rPr lang="en-US" sz="2250" b="true">
                  <a:solidFill>
                    <a:srgbClr val="14142B"/>
                  </a:solidFill>
                  <a:latin typeface="Arial Bold"/>
                  <a:ea typeface="Arial Bold"/>
                  <a:cs typeface="Arial Bold"/>
                  <a:sym typeface="Arial Bold"/>
                </a:rPr>
                <a:t>Reach</a:t>
              </a:r>
            </a:p>
            <a:p>
              <a:pPr algn="l">
                <a:lnSpc>
                  <a:spcPts val="2340"/>
                </a:lnSpc>
              </a:pPr>
              <a:r>
                <a:rPr lang="en-US" sz="1950">
                  <a:solidFill>
                    <a:srgbClr val="63637E"/>
                  </a:solidFill>
                  <a:latin typeface="Calibri (MS)"/>
                  <a:ea typeface="Calibri (MS)"/>
                  <a:cs typeface="Calibri (MS)"/>
                  <a:sym typeface="Calibri (MS)"/>
                </a:rPr>
                <a:t>Regional languages and code-mixed speech, accessibility partnerships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Brownie points slide( differentiation)</a:t>
              </a:r>
            </a:p>
          </p:txBody>
        </p:sp>
      </p:grpSp>
      <p:grpSp>
        <p:nvGrpSpPr>
          <p:cNvPr name="Group 5" id="5"/>
          <p:cNvGrpSpPr/>
          <p:nvPr/>
        </p:nvGrpSpPr>
        <p:grpSpPr>
          <a:xfrm rot="0">
            <a:off x="1247775" y="2465480"/>
            <a:ext cx="7755750" cy="2719054"/>
            <a:chOff x="0" y="0"/>
            <a:chExt cx="10341000" cy="3625405"/>
          </a:xfrm>
        </p:grpSpPr>
        <p:sp>
          <p:nvSpPr>
            <p:cNvPr name="Freeform 6" id="6"/>
            <p:cNvSpPr/>
            <p:nvPr/>
          </p:nvSpPr>
          <p:spPr>
            <a:xfrm flipH="false" flipV="false" rot="0">
              <a:off x="0" y="0"/>
              <a:ext cx="10341102" cy="3625469"/>
            </a:xfrm>
            <a:custGeom>
              <a:avLst/>
              <a:gdLst/>
              <a:ahLst/>
              <a:cxnLst/>
              <a:rect r="r" b="b" t="t" l="l"/>
              <a:pathLst>
                <a:path h="3625469" w="10341102">
                  <a:moveTo>
                    <a:pt x="0" y="217551"/>
                  </a:moveTo>
                  <a:cubicBezTo>
                    <a:pt x="0" y="97409"/>
                    <a:pt x="97409" y="0"/>
                    <a:pt x="217551" y="0"/>
                  </a:cubicBezTo>
                  <a:lnTo>
                    <a:pt x="10123551" y="0"/>
                  </a:lnTo>
                  <a:cubicBezTo>
                    <a:pt x="10243693" y="0"/>
                    <a:pt x="10341102" y="97409"/>
                    <a:pt x="10341102" y="217551"/>
                  </a:cubicBezTo>
                  <a:lnTo>
                    <a:pt x="10341102" y="3407918"/>
                  </a:lnTo>
                  <a:cubicBezTo>
                    <a:pt x="10341102" y="3528060"/>
                    <a:pt x="10243693" y="3625469"/>
                    <a:pt x="10123551" y="3625469"/>
                  </a:cubicBezTo>
                  <a:lnTo>
                    <a:pt x="217551" y="3625469"/>
                  </a:lnTo>
                  <a:cubicBezTo>
                    <a:pt x="97409" y="3625342"/>
                    <a:pt x="0" y="3528060"/>
                    <a:pt x="0" y="3407918"/>
                  </a:cubicBezTo>
                  <a:close/>
                </a:path>
              </a:pathLst>
            </a:custGeom>
            <a:solidFill>
              <a:srgbClr val="F5F3FF"/>
            </a:solidFill>
            <a:ln w="19050" cap="sq">
              <a:solidFill>
                <a:srgbClr val="E1DBF3"/>
              </a:solidFill>
              <a:prstDash val="solid"/>
              <a:miter/>
            </a:ln>
          </p:spPr>
        </p:sp>
        <p:sp>
          <p:nvSpPr>
            <p:cNvPr name="TextBox 7" id="7"/>
            <p:cNvSpPr txBox="true"/>
            <p:nvPr/>
          </p:nvSpPr>
          <p:spPr>
            <a:xfrm>
              <a:off x="0" y="-9525"/>
              <a:ext cx="10341000" cy="3634930"/>
            </a:xfrm>
            <a:prstGeom prst="rect">
              <a:avLst/>
            </a:prstGeom>
          </p:spPr>
          <p:txBody>
            <a:bodyPr anchor="ctr" rtlCol="false" tIns="50800" lIns="50800" bIns="50800" rIns="50800"/>
            <a:lstStyle/>
            <a:p>
              <a:pPr algn="l">
                <a:lnSpc>
                  <a:spcPts val="2879"/>
                </a:lnSpc>
              </a:pPr>
              <a:r>
                <a:rPr lang="en-US" sz="2400" b="true">
                  <a:solidFill>
                    <a:srgbClr val="14142B"/>
                  </a:solidFill>
                  <a:latin typeface="Arial Bold"/>
                  <a:ea typeface="Arial Bold"/>
                  <a:cs typeface="Arial Bold"/>
                  <a:sym typeface="Arial Bold"/>
                </a:rPr>
                <a:t>One demo, real generalisation</a:t>
              </a:r>
            </a:p>
            <a:p>
              <a:pPr algn="l">
                <a:lnSpc>
                  <a:spcPts val="2430"/>
                </a:lnSpc>
              </a:pPr>
              <a:r>
                <a:rPr lang="en-US" sz="2025">
                  <a:solidFill>
                    <a:srgbClr val="63637E"/>
                  </a:solidFill>
                  <a:latin typeface="Calibri (MS)"/>
                  <a:ea typeface="Calibri (MS)"/>
                  <a:cs typeface="Calibri (MS)"/>
                  <a:sym typeface="Calibri (MS)"/>
                </a:rPr>
                <a:t>Slots and semantic targets, not a coordinate replay.</a:t>
              </a:r>
            </a:p>
          </p:txBody>
        </p:sp>
      </p:grpSp>
      <p:grpSp>
        <p:nvGrpSpPr>
          <p:cNvPr name="Group 8" id="8"/>
          <p:cNvGrpSpPr/>
          <p:nvPr/>
        </p:nvGrpSpPr>
        <p:grpSpPr>
          <a:xfrm rot="0">
            <a:off x="9284475" y="2465480"/>
            <a:ext cx="7755750" cy="2719054"/>
            <a:chOff x="0" y="0"/>
            <a:chExt cx="10341000" cy="3625405"/>
          </a:xfrm>
        </p:grpSpPr>
        <p:sp>
          <p:nvSpPr>
            <p:cNvPr name="Freeform 9" id="9"/>
            <p:cNvSpPr/>
            <p:nvPr/>
          </p:nvSpPr>
          <p:spPr>
            <a:xfrm flipH="false" flipV="false" rot="0">
              <a:off x="0" y="0"/>
              <a:ext cx="10341102" cy="3625469"/>
            </a:xfrm>
            <a:custGeom>
              <a:avLst/>
              <a:gdLst/>
              <a:ahLst/>
              <a:cxnLst/>
              <a:rect r="r" b="b" t="t" l="l"/>
              <a:pathLst>
                <a:path h="3625469" w="10341102">
                  <a:moveTo>
                    <a:pt x="0" y="217551"/>
                  </a:moveTo>
                  <a:cubicBezTo>
                    <a:pt x="0" y="97409"/>
                    <a:pt x="97409" y="0"/>
                    <a:pt x="217551" y="0"/>
                  </a:cubicBezTo>
                  <a:lnTo>
                    <a:pt x="10123551" y="0"/>
                  </a:lnTo>
                  <a:cubicBezTo>
                    <a:pt x="10243693" y="0"/>
                    <a:pt x="10341102" y="97409"/>
                    <a:pt x="10341102" y="217551"/>
                  </a:cubicBezTo>
                  <a:lnTo>
                    <a:pt x="10341102" y="3407918"/>
                  </a:lnTo>
                  <a:cubicBezTo>
                    <a:pt x="10341102" y="3528060"/>
                    <a:pt x="10243693" y="3625469"/>
                    <a:pt x="10123551" y="3625469"/>
                  </a:cubicBezTo>
                  <a:lnTo>
                    <a:pt x="217551" y="3625469"/>
                  </a:lnTo>
                  <a:cubicBezTo>
                    <a:pt x="97409" y="3625342"/>
                    <a:pt x="0" y="3528060"/>
                    <a:pt x="0" y="3407918"/>
                  </a:cubicBezTo>
                  <a:close/>
                </a:path>
              </a:pathLst>
            </a:custGeom>
            <a:solidFill>
              <a:srgbClr val="FFFFFF"/>
            </a:solidFill>
            <a:ln w="19050" cap="sq">
              <a:solidFill>
                <a:srgbClr val="E1DBF3"/>
              </a:solidFill>
              <a:prstDash val="solid"/>
              <a:miter/>
            </a:ln>
          </p:spPr>
        </p:sp>
        <p:sp>
          <p:nvSpPr>
            <p:cNvPr name="TextBox 10" id="10"/>
            <p:cNvSpPr txBox="true"/>
            <p:nvPr/>
          </p:nvSpPr>
          <p:spPr>
            <a:xfrm>
              <a:off x="0" y="-9525"/>
              <a:ext cx="10341000" cy="3634930"/>
            </a:xfrm>
            <a:prstGeom prst="rect">
              <a:avLst/>
            </a:prstGeom>
          </p:spPr>
          <p:txBody>
            <a:bodyPr anchor="ctr" rtlCol="false" tIns="50800" lIns="50800" bIns="50800" rIns="50800"/>
            <a:lstStyle/>
            <a:p>
              <a:pPr algn="l">
                <a:lnSpc>
                  <a:spcPts val="2879"/>
                </a:lnSpc>
              </a:pPr>
              <a:r>
                <a:rPr lang="en-US" sz="2400" b="true">
                  <a:solidFill>
                    <a:srgbClr val="14142B"/>
                  </a:solidFill>
                  <a:latin typeface="Arial Bold"/>
                  <a:ea typeface="Arial Bold"/>
                  <a:cs typeface="Arial Bold"/>
                  <a:sym typeface="Arial Bold"/>
                </a:rPr>
                <a:t>Voice in, paraphrase-proof</a:t>
              </a:r>
            </a:p>
            <a:p>
              <a:pPr algn="l">
                <a:lnSpc>
                  <a:spcPts val="2430"/>
                </a:lnSpc>
              </a:pPr>
              <a:r>
                <a:rPr lang="en-US" sz="2025">
                  <a:solidFill>
                    <a:srgbClr val="63637E"/>
                  </a:solidFill>
                  <a:latin typeface="Calibri (MS)"/>
                  <a:ea typeface="Calibri (MS)"/>
                  <a:cs typeface="Calibri (MS)"/>
                  <a:sym typeface="Calibri (MS)"/>
                </a:rPr>
                <a:t>“Get me rice” and “order 5 kg rice” hit the same flow.</a:t>
              </a:r>
            </a:p>
          </p:txBody>
        </p:sp>
      </p:grpSp>
      <p:grpSp>
        <p:nvGrpSpPr>
          <p:cNvPr name="Group 11" id="11"/>
          <p:cNvGrpSpPr/>
          <p:nvPr/>
        </p:nvGrpSpPr>
        <p:grpSpPr>
          <a:xfrm rot="0">
            <a:off x="1247775" y="5465474"/>
            <a:ext cx="7755750" cy="2719054"/>
            <a:chOff x="0" y="0"/>
            <a:chExt cx="10341000" cy="3625405"/>
          </a:xfrm>
        </p:grpSpPr>
        <p:sp>
          <p:nvSpPr>
            <p:cNvPr name="Freeform 12" id="12"/>
            <p:cNvSpPr/>
            <p:nvPr/>
          </p:nvSpPr>
          <p:spPr>
            <a:xfrm flipH="false" flipV="false" rot="0">
              <a:off x="0" y="0"/>
              <a:ext cx="10341102" cy="3625469"/>
            </a:xfrm>
            <a:custGeom>
              <a:avLst/>
              <a:gdLst/>
              <a:ahLst/>
              <a:cxnLst/>
              <a:rect r="r" b="b" t="t" l="l"/>
              <a:pathLst>
                <a:path h="3625469" w="10341102">
                  <a:moveTo>
                    <a:pt x="0" y="217551"/>
                  </a:moveTo>
                  <a:cubicBezTo>
                    <a:pt x="0" y="97409"/>
                    <a:pt x="97409" y="0"/>
                    <a:pt x="217551" y="0"/>
                  </a:cubicBezTo>
                  <a:lnTo>
                    <a:pt x="10123551" y="0"/>
                  </a:lnTo>
                  <a:cubicBezTo>
                    <a:pt x="10243693" y="0"/>
                    <a:pt x="10341102" y="97409"/>
                    <a:pt x="10341102" y="217551"/>
                  </a:cubicBezTo>
                  <a:lnTo>
                    <a:pt x="10341102" y="3407918"/>
                  </a:lnTo>
                  <a:cubicBezTo>
                    <a:pt x="10341102" y="3528060"/>
                    <a:pt x="10243693" y="3625469"/>
                    <a:pt x="10123551" y="3625469"/>
                  </a:cubicBezTo>
                  <a:lnTo>
                    <a:pt x="217551" y="3625469"/>
                  </a:lnTo>
                  <a:cubicBezTo>
                    <a:pt x="97409" y="3625342"/>
                    <a:pt x="0" y="3528060"/>
                    <a:pt x="0" y="3407918"/>
                  </a:cubicBezTo>
                  <a:close/>
                </a:path>
              </a:pathLst>
            </a:custGeom>
            <a:solidFill>
              <a:srgbClr val="FFFFFF"/>
            </a:solidFill>
            <a:ln w="19050" cap="sq">
              <a:solidFill>
                <a:srgbClr val="E1DBF3"/>
              </a:solidFill>
              <a:prstDash val="solid"/>
              <a:miter/>
            </a:ln>
          </p:spPr>
        </p:sp>
        <p:sp>
          <p:nvSpPr>
            <p:cNvPr name="TextBox 13" id="13"/>
            <p:cNvSpPr txBox="true"/>
            <p:nvPr/>
          </p:nvSpPr>
          <p:spPr>
            <a:xfrm>
              <a:off x="0" y="-9525"/>
              <a:ext cx="10341000" cy="3634930"/>
            </a:xfrm>
            <a:prstGeom prst="rect">
              <a:avLst/>
            </a:prstGeom>
          </p:spPr>
          <p:txBody>
            <a:bodyPr anchor="ctr" rtlCol="false" tIns="50800" lIns="50800" bIns="50800" rIns="50800"/>
            <a:lstStyle/>
            <a:p>
              <a:pPr algn="l">
                <a:lnSpc>
                  <a:spcPts val="2879"/>
                </a:lnSpc>
              </a:pPr>
              <a:r>
                <a:rPr lang="en-US" sz="2400" b="true">
                  <a:solidFill>
                    <a:srgbClr val="14142B"/>
                  </a:solidFill>
                  <a:latin typeface="Arial Bold"/>
                  <a:ea typeface="Arial Bold"/>
                  <a:cs typeface="Arial Bold"/>
                  <a:sym typeface="Arial Bold"/>
                </a:rPr>
                <a:t>Safe by design</a:t>
              </a:r>
            </a:p>
            <a:p>
              <a:pPr algn="l">
                <a:lnSpc>
                  <a:spcPts val="2430"/>
                </a:lnSpc>
              </a:pPr>
              <a:r>
                <a:rPr lang="en-US" sz="2025">
                  <a:solidFill>
                    <a:srgbClr val="63637E"/>
                  </a:solidFill>
                  <a:latin typeface="Calibri (MS)"/>
                  <a:ea typeface="Calibri (MS)"/>
                  <a:cs typeface="Calibri (MS)"/>
                  <a:sym typeface="Calibri (MS)"/>
                </a:rPr>
                <a:t>No credential capture; pauses at payment and authentication.</a:t>
              </a:r>
            </a:p>
          </p:txBody>
        </p:sp>
      </p:grpSp>
      <p:grpSp>
        <p:nvGrpSpPr>
          <p:cNvPr name="Group 14" id="14"/>
          <p:cNvGrpSpPr/>
          <p:nvPr/>
        </p:nvGrpSpPr>
        <p:grpSpPr>
          <a:xfrm rot="0">
            <a:off x="9284475" y="5465474"/>
            <a:ext cx="7755750" cy="2719054"/>
            <a:chOff x="0" y="0"/>
            <a:chExt cx="10341000" cy="3625405"/>
          </a:xfrm>
        </p:grpSpPr>
        <p:sp>
          <p:nvSpPr>
            <p:cNvPr name="Freeform 15" id="15"/>
            <p:cNvSpPr/>
            <p:nvPr/>
          </p:nvSpPr>
          <p:spPr>
            <a:xfrm flipH="false" flipV="false" rot="0">
              <a:off x="0" y="0"/>
              <a:ext cx="10341102" cy="3625469"/>
            </a:xfrm>
            <a:custGeom>
              <a:avLst/>
              <a:gdLst/>
              <a:ahLst/>
              <a:cxnLst/>
              <a:rect r="r" b="b" t="t" l="l"/>
              <a:pathLst>
                <a:path h="3625469" w="10341102">
                  <a:moveTo>
                    <a:pt x="0" y="217551"/>
                  </a:moveTo>
                  <a:cubicBezTo>
                    <a:pt x="0" y="97409"/>
                    <a:pt x="97409" y="0"/>
                    <a:pt x="217551" y="0"/>
                  </a:cubicBezTo>
                  <a:lnTo>
                    <a:pt x="10123551" y="0"/>
                  </a:lnTo>
                  <a:cubicBezTo>
                    <a:pt x="10243693" y="0"/>
                    <a:pt x="10341102" y="97409"/>
                    <a:pt x="10341102" y="217551"/>
                  </a:cubicBezTo>
                  <a:lnTo>
                    <a:pt x="10341102" y="3407918"/>
                  </a:lnTo>
                  <a:cubicBezTo>
                    <a:pt x="10341102" y="3528060"/>
                    <a:pt x="10243693" y="3625469"/>
                    <a:pt x="10123551" y="3625469"/>
                  </a:cubicBezTo>
                  <a:lnTo>
                    <a:pt x="217551" y="3625469"/>
                  </a:lnTo>
                  <a:cubicBezTo>
                    <a:pt x="97409" y="3625342"/>
                    <a:pt x="0" y="3528060"/>
                    <a:pt x="0" y="3407918"/>
                  </a:cubicBezTo>
                  <a:close/>
                </a:path>
              </a:pathLst>
            </a:custGeom>
            <a:solidFill>
              <a:srgbClr val="F5F3FF"/>
            </a:solidFill>
            <a:ln w="19050" cap="sq">
              <a:solidFill>
                <a:srgbClr val="E1DBF3"/>
              </a:solidFill>
              <a:prstDash val="solid"/>
              <a:miter/>
            </a:ln>
          </p:spPr>
        </p:sp>
        <p:sp>
          <p:nvSpPr>
            <p:cNvPr name="TextBox 16" id="16"/>
            <p:cNvSpPr txBox="true"/>
            <p:nvPr/>
          </p:nvSpPr>
          <p:spPr>
            <a:xfrm>
              <a:off x="0" y="-9525"/>
              <a:ext cx="10341000" cy="3634930"/>
            </a:xfrm>
            <a:prstGeom prst="rect">
              <a:avLst/>
            </a:prstGeom>
          </p:spPr>
          <p:txBody>
            <a:bodyPr anchor="ctr" rtlCol="false" tIns="50800" lIns="50800" bIns="50800" rIns="50800"/>
            <a:lstStyle/>
            <a:p>
              <a:pPr algn="l">
                <a:lnSpc>
                  <a:spcPts val="2879"/>
                </a:lnSpc>
              </a:pPr>
              <a:r>
                <a:rPr lang="en-US" sz="2400" b="true">
                  <a:solidFill>
                    <a:srgbClr val="14142B"/>
                  </a:solidFill>
                  <a:latin typeface="Arial Bold"/>
                  <a:ea typeface="Arial Bold"/>
                  <a:cs typeface="Arial Bold"/>
                  <a:sym typeface="Arial Bold"/>
                </a:rPr>
                <a:t>Measurable</a:t>
              </a:r>
            </a:p>
            <a:p>
              <a:pPr algn="l">
                <a:lnSpc>
                  <a:spcPts val="2430"/>
                </a:lnSpc>
              </a:pPr>
              <a:r>
                <a:rPr lang="en-US" sz="2025">
                  <a:solidFill>
                    <a:srgbClr val="63637E"/>
                  </a:solidFill>
                  <a:latin typeface="Calibri (MS)"/>
                  <a:ea typeface="Calibri (MS)"/>
                  <a:cs typeface="Calibri (MS)"/>
                  <a:sym typeface="Calibri (MS)"/>
                </a:rPr>
                <a:t>Learn, replay and paraphrase metrics reported across sessions.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blipFill>
              <a:blip r:embed="rId2">
                <a:alphaModFix amt="0"/>
              </a:blip>
              <a:stretch>
                <a:fillRect l="0" t="-104573" r="0" b="-104573"/>
              </a:stretch>
            </a:blipFill>
          </p:spPr>
        </p:sp>
        <p:sp>
          <p:nvSpPr>
            <p:cNvPr name="TextBox 4" id="4"/>
            <p:cNvSpPr txBox="true"/>
            <p:nvPr/>
          </p:nvSpPr>
          <p:spPr>
            <a:xfrm>
              <a:off x="0" y="-66675"/>
              <a:ext cx="21031200" cy="2717800"/>
            </a:xfrm>
            <a:prstGeom prst="rect">
              <a:avLst/>
            </a:prstGeom>
          </p:spPr>
          <p:txBody>
            <a:bodyPr anchor="ctr" rtlCol="false" tIns="0" lIns="0" bIns="0" rIns="0"/>
            <a:lstStyle/>
            <a:p>
              <a:pPr algn="l">
                <a:lnSpc>
                  <a:spcPts val="7128"/>
                </a:lnSpc>
              </a:pPr>
              <a:r>
                <a:rPr lang="en-US" sz="6600" b="true">
                  <a:solidFill>
                    <a:srgbClr val="704EA6"/>
                  </a:solidFill>
                  <a:latin typeface="Calibri (MS) Bold"/>
                  <a:ea typeface="Calibri (MS) Bold"/>
                  <a:cs typeface="Calibri (MS) Bold"/>
                  <a:sym typeface="Calibri (MS) Bold"/>
                </a:rPr>
                <a:t>Checklist- Updated on Public GitHub</a:t>
              </a:r>
            </a:p>
          </p:txBody>
        </p:sp>
      </p:grpSp>
      <p:sp>
        <p:nvSpPr>
          <p:cNvPr name="TextBox 5" id="5"/>
          <p:cNvSpPr txBox="true"/>
          <p:nvPr/>
        </p:nvSpPr>
        <p:spPr>
          <a:xfrm rot="0">
            <a:off x="1668780" y="2091983"/>
            <a:ext cx="15590520" cy="7531608"/>
          </a:xfrm>
          <a:prstGeom prst="rect">
            <a:avLst/>
          </a:prstGeom>
        </p:spPr>
        <p:txBody>
          <a:bodyPr anchor="t" rtlCol="false" tIns="0" lIns="0" bIns="0" rIns="0">
            <a:spAutoFit/>
          </a:bodyPr>
          <a:lstStyle/>
          <a:p>
            <a:pPr algn="l" marL="760095" indent="-380048" lvl="1">
              <a:lnSpc>
                <a:spcPts val="4536"/>
              </a:lnSpc>
              <a:buFont typeface="Arial"/>
              <a:buChar char="•"/>
            </a:pPr>
            <a:r>
              <a:rPr lang="en-US" sz="4200">
                <a:solidFill>
                  <a:srgbClr val="63637E"/>
                </a:solidFill>
                <a:latin typeface="Calibri (MS)"/>
                <a:ea typeface="Calibri (MS)"/>
                <a:cs typeface="Calibri (MS)"/>
                <a:sym typeface="Calibri (MS)"/>
              </a:rPr>
              <a:t>Working prototype code — public or shared GitHub repo </a:t>
            </a:r>
          </a:p>
          <a:p>
            <a:pPr algn="l">
              <a:lnSpc>
                <a:spcPts val="4536"/>
              </a:lnSpc>
            </a:pPr>
            <a:r>
              <a:rPr lang="en-US" sz="4200" b="true">
                <a:solidFill>
                  <a:srgbClr val="63637E"/>
                </a:solidFill>
                <a:latin typeface="Calibri (MS) Bold"/>
                <a:ea typeface="Calibri (MS) Bold"/>
                <a:cs typeface="Calibri (MS) Bold"/>
                <a:sym typeface="Calibri (MS) Bold"/>
              </a:rPr>
              <a:t>    https://github.com/jiyanambiar/teachable-voice-assistant</a:t>
            </a:r>
          </a:p>
          <a:p>
            <a:pPr algn="l">
              <a:lnSpc>
                <a:spcPts val="4536"/>
              </a:lnSpc>
            </a:pPr>
          </a:p>
          <a:p>
            <a:pPr algn="l" marL="760095" indent="-380048" lvl="1">
              <a:lnSpc>
                <a:spcPts val="4536"/>
              </a:lnSpc>
              <a:buFont typeface="Arial"/>
              <a:buChar char="•"/>
            </a:pPr>
            <a:r>
              <a:rPr lang="en-US" sz="4200">
                <a:solidFill>
                  <a:srgbClr val="63637E"/>
                </a:solidFill>
                <a:latin typeface="Calibri (MS)"/>
                <a:ea typeface="Calibri (MS)"/>
                <a:cs typeface="Calibri (MS)"/>
                <a:sym typeface="Calibri (MS)"/>
              </a:rPr>
              <a:t>README with reproducible setup instructions (Y/N)</a:t>
            </a:r>
          </a:p>
          <a:p>
            <a:pPr algn="l">
              <a:lnSpc>
                <a:spcPts val="4536"/>
              </a:lnSpc>
            </a:pPr>
            <a:r>
              <a:rPr lang="en-US" sz="4200">
                <a:solidFill>
                  <a:srgbClr val="63637E"/>
                </a:solidFill>
                <a:latin typeface="Calibri (MS)"/>
                <a:ea typeface="Calibri (MS)"/>
                <a:cs typeface="Calibri (MS)"/>
                <a:sym typeface="Calibri (MS)"/>
              </a:rPr>
              <a:t> </a:t>
            </a:r>
            <a:r>
              <a:rPr lang="en-US" sz="4200" b="true">
                <a:solidFill>
                  <a:srgbClr val="63637E"/>
                </a:solidFill>
                <a:latin typeface="Calibri (MS) Bold"/>
                <a:ea typeface="Calibri (MS) Bold"/>
                <a:cs typeface="Calibri (MS) Bold"/>
                <a:sym typeface="Calibri (MS) Bold"/>
              </a:rPr>
              <a:t>    YES </a:t>
            </a:r>
          </a:p>
          <a:p>
            <a:pPr algn="l">
              <a:lnSpc>
                <a:spcPts val="4536"/>
              </a:lnSpc>
            </a:pPr>
          </a:p>
          <a:p>
            <a:pPr algn="l" marL="906780" indent="-453390" lvl="1">
              <a:lnSpc>
                <a:spcPts val="4536"/>
              </a:lnSpc>
              <a:buFont typeface="Arial"/>
              <a:buChar char="•"/>
            </a:pPr>
            <a:r>
              <a:rPr lang="en-US" sz="4200">
                <a:solidFill>
                  <a:srgbClr val="63637E"/>
                </a:solidFill>
                <a:latin typeface="Calibri (MS)"/>
                <a:ea typeface="Calibri (MS)"/>
                <a:cs typeface="Calibri (MS)"/>
                <a:sym typeface="Calibri (MS)"/>
              </a:rPr>
              <a:t>Demo video, max 5 minutes (YouTube or Drive link)</a:t>
            </a:r>
          </a:p>
          <a:p>
            <a:pPr algn="just">
              <a:lnSpc>
                <a:spcPts val="4536"/>
              </a:lnSpc>
            </a:pPr>
            <a:r>
              <a:rPr lang="en-US" sz="4200">
                <a:solidFill>
                  <a:srgbClr val="63637E"/>
                </a:solidFill>
                <a:latin typeface="Calibri (MS)"/>
                <a:ea typeface="Calibri (MS)"/>
                <a:cs typeface="Calibri (MS)"/>
                <a:sym typeface="Calibri (MS)"/>
              </a:rPr>
              <a:t> </a:t>
            </a:r>
            <a:r>
              <a:rPr lang="en-US" sz="4200" b="true">
                <a:solidFill>
                  <a:srgbClr val="63637E"/>
                </a:solidFill>
                <a:latin typeface="Calibri (MS) Bold"/>
                <a:ea typeface="Calibri (MS) Bold"/>
                <a:cs typeface="Calibri (MS) Bold"/>
                <a:sym typeface="Calibri (MS) Bold"/>
              </a:rPr>
              <a:t>https://drive.google.com/file/d/1iSJeKIwWKvyI605R3ch6inuzyzR2DL-t/view?usp=sharing</a:t>
            </a:r>
          </a:p>
          <a:p>
            <a:pPr algn="just">
              <a:lnSpc>
                <a:spcPts val="4536"/>
              </a:lnSpc>
            </a:pPr>
          </a:p>
          <a:p>
            <a:pPr algn="l" marL="760095" indent="-380048" lvl="1">
              <a:lnSpc>
                <a:spcPts val="4536"/>
              </a:lnSpc>
              <a:buFont typeface="Arial"/>
              <a:buChar char="•"/>
            </a:pPr>
            <a:r>
              <a:rPr lang="en-US" sz="4200">
                <a:solidFill>
                  <a:srgbClr val="63637E"/>
                </a:solidFill>
                <a:latin typeface="Calibri (MS)"/>
                <a:ea typeface="Calibri (MS)"/>
                <a:cs typeface="Calibri (MS)"/>
                <a:sym typeface="Calibri (MS)"/>
              </a:rPr>
              <a:t>Presentation file (PPT or PDF) (Y/N)</a:t>
            </a:r>
          </a:p>
          <a:p>
            <a:pPr algn="l">
              <a:lnSpc>
                <a:spcPts val="4536"/>
              </a:lnSpc>
            </a:pPr>
            <a:r>
              <a:rPr lang="en-US" sz="4200">
                <a:solidFill>
                  <a:srgbClr val="63637E"/>
                </a:solidFill>
                <a:latin typeface="Calibri (MS)"/>
                <a:ea typeface="Calibri (MS)"/>
                <a:cs typeface="Calibri (MS)"/>
                <a:sym typeface="Calibri (MS)"/>
              </a:rPr>
              <a:t>    </a:t>
            </a:r>
            <a:r>
              <a:rPr lang="en-US" sz="4200" b="true">
                <a:solidFill>
                  <a:srgbClr val="63637E"/>
                </a:solidFill>
                <a:latin typeface="Calibri (MS) Bold"/>
                <a:ea typeface="Calibri (MS) Bold"/>
                <a:cs typeface="Calibri (MS) Bold"/>
                <a:sym typeface="Calibri (MS) Bold"/>
              </a:rPr>
              <a:t>   YES </a:t>
            </a:r>
          </a:p>
          <a:p>
            <a:pPr algn="l" marL="760095" indent="-380048" lvl="1">
              <a:lnSpc>
                <a:spcPts val="453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680257" y="3840480"/>
            <a:ext cx="10149840" cy="1303020"/>
            <a:chOff x="0" y="0"/>
            <a:chExt cx="13533120" cy="1737360"/>
          </a:xfrm>
        </p:grpSpPr>
        <p:sp>
          <p:nvSpPr>
            <p:cNvPr name="Freeform 3" id="3"/>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3">
                <a:alphaModFix amt="0"/>
              </a:blip>
              <a:stretch>
                <a:fillRect l="0" t="-101778" r="0" b="-101778"/>
              </a:stretch>
            </a:blipFill>
          </p:spPr>
        </p:sp>
        <p:sp>
          <p:nvSpPr>
            <p:cNvPr name="TextBox 4" id="4"/>
            <p:cNvSpPr txBox="true"/>
            <p:nvPr/>
          </p:nvSpPr>
          <p:spPr>
            <a:xfrm>
              <a:off x="0" y="-28575"/>
              <a:ext cx="13533120" cy="1765935"/>
            </a:xfrm>
            <a:prstGeom prst="rect">
              <a:avLst/>
            </a:prstGeom>
          </p:spPr>
          <p:txBody>
            <a:bodyPr anchor="ctr" rtlCol="false" tIns="0" lIns="0" bIns="0" rIns="0"/>
            <a:lstStyle/>
            <a:p>
              <a:pPr algn="l">
                <a:lnSpc>
                  <a:spcPts val="8280"/>
                </a:lnSpc>
              </a:pPr>
              <a:r>
                <a:rPr lang="en-US" sz="6900" b="true">
                  <a:solidFill>
                    <a:srgbClr val="14142B"/>
                  </a:solidFill>
                  <a:latin typeface="Arial Bold"/>
                  <a:ea typeface="Arial Bold"/>
                  <a:cs typeface="Arial Bold"/>
                  <a:sym typeface="Arial Bold"/>
                </a:rPr>
                <a:t>Thank you</a:t>
              </a:r>
            </a:p>
          </p:txBody>
        </p:sp>
      </p:grpSp>
      <p:grpSp>
        <p:nvGrpSpPr>
          <p:cNvPr name="Group 5" id="5"/>
          <p:cNvGrpSpPr/>
          <p:nvPr/>
        </p:nvGrpSpPr>
        <p:grpSpPr>
          <a:xfrm rot="0">
            <a:off x="1165860" y="8846820"/>
            <a:ext cx="15910560" cy="438912"/>
            <a:chOff x="0" y="0"/>
            <a:chExt cx="21214080" cy="585216"/>
          </a:xfrm>
        </p:grpSpPr>
        <p:sp>
          <p:nvSpPr>
            <p:cNvPr name="Freeform 6" id="6"/>
            <p:cNvSpPr/>
            <p:nvPr/>
          </p:nvSpPr>
          <p:spPr>
            <a:xfrm flipH="false" flipV="false" rot="0">
              <a:off x="0" y="0"/>
              <a:ext cx="21214080" cy="585216"/>
            </a:xfrm>
            <a:custGeom>
              <a:avLst/>
              <a:gdLst/>
              <a:ahLst/>
              <a:cxnLst/>
              <a:rect r="r" b="b" t="t" l="l"/>
              <a:pathLst>
                <a:path h="585216" w="21214080">
                  <a:moveTo>
                    <a:pt x="0" y="0"/>
                  </a:moveTo>
                  <a:lnTo>
                    <a:pt x="21214080" y="0"/>
                  </a:lnTo>
                  <a:lnTo>
                    <a:pt x="21214080" y="585216"/>
                  </a:lnTo>
                  <a:lnTo>
                    <a:pt x="0" y="585216"/>
                  </a:lnTo>
                  <a:close/>
                </a:path>
              </a:pathLst>
            </a:custGeom>
            <a:blipFill>
              <a:blip r:embed="rId3">
                <a:alphaModFix amt="0"/>
              </a:blip>
              <a:stretch>
                <a:fillRect l="0" t="-656332" r="0" b="-656332"/>
              </a:stretch>
            </a:blipFill>
          </p:spPr>
        </p:sp>
        <p:sp>
          <p:nvSpPr>
            <p:cNvPr name="TextBox 7" id="7"/>
            <p:cNvSpPr txBox="true"/>
            <p:nvPr/>
          </p:nvSpPr>
          <p:spPr>
            <a:xfrm>
              <a:off x="0" y="-28575"/>
              <a:ext cx="21214080" cy="613791"/>
            </a:xfrm>
            <a:prstGeom prst="rect">
              <a:avLst/>
            </a:prstGeom>
          </p:spPr>
          <p:txBody>
            <a:bodyPr anchor="ctr" rtlCol="false" tIns="0" lIns="0" bIns="0" rIns="0"/>
            <a:lstStyle/>
            <a:p>
              <a:pPr algn="l">
                <a:lnSpc>
                  <a:spcPts val="1980"/>
                </a:lnSpc>
              </a:pPr>
              <a:r>
                <a:rPr lang="en-US" sz="1650">
                  <a:solidFill>
                    <a:srgbClr val="63637E"/>
                  </a:solidFill>
                  <a:latin typeface="Calibri (MS)"/>
                  <a:ea typeface="Calibri (MS)"/>
                  <a:cs typeface="Calibri (MS)"/>
                  <a:sym typeface="Calibri (MS)"/>
                </a:rPr>
                <a:t>Organised by the Language AI Team and the PRISM Team, Samsung R&amp;D Institute India</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DAHWmf_Nr54</dc:identifier>
  <dcterms:modified xsi:type="dcterms:W3CDTF">2011-08-01T06:04:30Z</dcterms:modified>
  <cp:revision>1</cp:revision>
  <dc:title>Teachable_Voice_Automation_Submission.pptx</dc:title>
</cp:coreProperties>
</file>